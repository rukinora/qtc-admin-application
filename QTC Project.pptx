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aleway"/>
      <p:regular r:id="rId38"/>
      <p:bold r:id="rId39"/>
      <p:italic r:id="rId40"/>
      <p:boldItalic r:id="rId41"/>
    </p:embeddedFont>
    <p:embeddedFont>
      <p:font typeface="Roboto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italic.fntdata"/><Relationship Id="rId20" Type="http://schemas.openxmlformats.org/officeDocument/2006/relationships/slide" Target="slides/slide15.xml"/><Relationship Id="rId42" Type="http://schemas.openxmlformats.org/officeDocument/2006/relationships/font" Target="fonts/RobotoMono-regular.fntdata"/><Relationship Id="rId41" Type="http://schemas.openxmlformats.org/officeDocument/2006/relationships/font" Target="fonts/Raleway-boldItalic.fntdata"/><Relationship Id="rId22" Type="http://schemas.openxmlformats.org/officeDocument/2006/relationships/slide" Target="slides/slide17.xml"/><Relationship Id="rId44" Type="http://schemas.openxmlformats.org/officeDocument/2006/relationships/font" Target="fonts/RobotoMono-italic.fntdata"/><Relationship Id="rId21" Type="http://schemas.openxmlformats.org/officeDocument/2006/relationships/slide" Target="slides/slide16.xml"/><Relationship Id="rId43" Type="http://schemas.openxmlformats.org/officeDocument/2006/relationships/font" Target="fonts/RobotoMono-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bold.fntdata"/><Relationship Id="rId16" Type="http://schemas.openxmlformats.org/officeDocument/2006/relationships/slide" Target="slides/slide11.xml"/><Relationship Id="rId38" Type="http://schemas.openxmlformats.org/officeDocument/2006/relationships/font" Target="fonts/Raleway-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9633d577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9633d577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9633d57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9633d57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1"/>
                </a:solidFill>
              </a:rPr>
              <a:t>To understand the stakes of this project, we have to look at the scale of QTC Health Services. As the nation’s largest provider of disability and occupational health exams, QTC isn't just handling data; they are processing over 4 million pages of medical records every single day. Currently, the workflows that manage this massive volume of data are configured manually. When a workflow needs to change, or a process gets stuck, an IT professional has to manually write and execute SQL scripts directly against the database. This creates three major problems: Inefficiency: It bottlenecks the IT staff with repetitive tasks. Risk: Manual data entry always carries a high risk of human error, which is dangerous in a healthcare setting. Scalability: As QTC grows, manual scripting simply cannot keep up with the demand for rapid workflow changes.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7b1ad6f18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7b1ad6f18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Our project objective is to eliminate that risk by developing the Workflow Queue Administrator Application. Essentially, we are building a secure Graphical User Interface (GUI) that replaces those manual SQL interactions. Instead of writing code, an administrator will use our web tool to manage the system safely. We are focusing on three core capabilities: Safe Configuration: We want Admins to create and edit workflows visually, without ever touching a line of SQL. Task Intervention: If a task gets 'stuck'—for example, if an employee leaves the company while a file is assigned to them—managers can reassign or complete that task instantly via the UI. Compliance: And most importantly, because this is a healthcare environment, our system automatically enforces authorization and logs every single action for HIPAA audits. Now, to explain how we documented these requirements, I’ll hand it over to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9633d577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9633d577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b8974096a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b8974096a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7b1ad6f1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7b1ad6f1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b8ca798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b8ca798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7bc469bb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7bc469bb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c905c0d5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c905c0d5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9633d577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9633d577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3549e8e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3549e8e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SQL server - accessed by strings “flagged Admin”</a:t>
            </a:r>
            <a:endParaRPr/>
          </a:p>
          <a:p>
            <a:pPr indent="0" lvl="0" marL="0" rtl="0" algn="l">
              <a:spcBef>
                <a:spcPts val="0"/>
              </a:spcBef>
              <a:spcAft>
                <a:spcPts val="0"/>
              </a:spcAft>
              <a:buNone/>
            </a:pPr>
            <a:r>
              <a:rPr lang="en"/>
              <a:t>For users, tasks, queue items, logs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bb022b2a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bb022b2a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77cc85b3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77cc85b3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b8974096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b8974096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7af7130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7af7130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Laila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7af71301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7af71301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Laila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b874c7d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b874c7d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9297e68b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9297e68b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9297e68bf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9297e68bf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9297e68bf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9297e68bf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989a833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989a833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989a8338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989a8338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9297e68bf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9297e68bf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b565275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b565275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9633d577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99633d577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9633d577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99633d577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ab121fd9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ab121fd9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dab121fd9a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dab121fd9a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9633d577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9633d577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9633d577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99633d577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99633d577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99633d577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asp.net" TargetMode="Externa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drive.google.com/file/d/1Cyn4QePIvdoBKdMwZRn09la6sojIZQjF/view" TargetMode="External"/><Relationship Id="rId4"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8.jpg"/><Relationship Id="rId5"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8.jpg"/><Relationship Id="rId5"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16.png"/><Relationship Id="rId5" Type="http://schemas.openxmlformats.org/officeDocument/2006/relationships/image" Target="../media/image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8.jpg"/></Relationships>
</file>

<file path=ppt/slides/_rels/slide32.xml.rels><?xml version="1.0" encoding="UTF-8" standalone="yes"?><Relationships xmlns="http://schemas.openxmlformats.org/package/2006/relationships"><Relationship Id="rId11" Type="http://schemas.openxmlformats.org/officeDocument/2006/relationships/hyperlink" Target="https://www.debian.org/doc/" TargetMode="External"/><Relationship Id="rId10" Type="http://schemas.openxmlformats.org/officeDocument/2006/relationships/hyperlink" Target="https://lwn.net/" TargetMode="External"/><Relationship Id="rId13" Type="http://schemas.openxmlformats.org/officeDocument/2006/relationships/hyperlink" Target="https://learn.microsoft.com/en-us/dotnet/" TargetMode="External"/><Relationship Id="rId12" Type="http://schemas.openxmlformats.org/officeDocument/2006/relationships/hyperlink" Target="https://www.debian.org/doc/" TargetMode="External"/><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learn.microsoft.com/iis/" TargetMode="External"/><Relationship Id="rId4" Type="http://schemas.openxmlformats.org/officeDocument/2006/relationships/hyperlink" Target="https://learn.microsoft.com/iis/" TargetMode="External"/><Relationship Id="rId9" Type="http://schemas.openxmlformats.org/officeDocument/2006/relationships/hyperlink" Target="https://lwn.net/" TargetMode="External"/><Relationship Id="rId14" Type="http://schemas.openxmlformats.org/officeDocument/2006/relationships/image" Target="../media/image31.png"/><Relationship Id="rId5" Type="http://schemas.openxmlformats.org/officeDocument/2006/relationships/hyperlink" Target="https://en.wikipedia.org/wiki/Microsoft_SQL_Server" TargetMode="External"/><Relationship Id="rId6" Type="http://schemas.openxmlformats.org/officeDocument/2006/relationships/hyperlink" Target="https://en.wikipedia.org/wiki/Microsoft_SQL_Server" TargetMode="External"/><Relationship Id="rId7" Type="http://schemas.openxmlformats.org/officeDocument/2006/relationships/hyperlink" Target="https://en.wikipedia.org/wiki/Internet_Information_Services" TargetMode="External"/><Relationship Id="rId8" Type="http://schemas.openxmlformats.org/officeDocument/2006/relationships/hyperlink" Target="https://en.wikipedia.org/wiki/Internet_Information_Servic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idx="1" type="subTitle"/>
          </p:nvPr>
        </p:nvSpPr>
        <p:spPr>
          <a:xfrm>
            <a:off x="512400" y="3928975"/>
            <a:ext cx="4758000" cy="67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400">
                <a:solidFill>
                  <a:srgbClr val="FFFFFF"/>
                </a:solidFill>
              </a:rPr>
              <a:t>Technical Contacts</a:t>
            </a:r>
            <a:r>
              <a:rPr lang="en" sz="1400">
                <a:solidFill>
                  <a:srgbClr val="FFFFFF"/>
                </a:solidFill>
              </a:rPr>
              <a:t>: Edmundo Guzman-Meza,  Denise Tabilas</a:t>
            </a:r>
            <a:endParaRPr sz="1400">
              <a:solidFill>
                <a:srgbClr val="FFFFFF"/>
              </a:solidFill>
            </a:endParaRPr>
          </a:p>
        </p:txBody>
      </p:sp>
      <p:sp>
        <p:nvSpPr>
          <p:cNvPr id="59" name="Google Shape;59;p13"/>
          <p:cNvSpPr txBox="1"/>
          <p:nvPr/>
        </p:nvSpPr>
        <p:spPr>
          <a:xfrm>
            <a:off x="5520150" y="4019575"/>
            <a:ext cx="24882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Sans Pro"/>
                <a:ea typeface="Source Sans Pro"/>
                <a:cs typeface="Source Sans Pro"/>
                <a:sym typeface="Source Sans Pro"/>
              </a:rPr>
              <a:t>Project Advisor: Huiping Guo</a:t>
            </a:r>
            <a:endParaRPr>
              <a:solidFill>
                <a:srgbClr val="FFFFFF"/>
              </a:solidFill>
              <a:latin typeface="Source Sans Pro"/>
              <a:ea typeface="Source Sans Pro"/>
              <a:cs typeface="Source Sans Pro"/>
              <a:sym typeface="Source Sans Pro"/>
            </a:endParaRPr>
          </a:p>
        </p:txBody>
      </p:sp>
      <p:pic>
        <p:nvPicPr>
          <p:cNvPr descr="C:\Users\redelbi\AppData\Local\Microsoft\Windows\INetCache\Content.Word\LQTCHS-Logo.png" id="60" name="Google Shape;60;p13"/>
          <p:cNvPicPr preferRelativeResize="0"/>
          <p:nvPr/>
        </p:nvPicPr>
        <p:blipFill>
          <a:blip r:embed="rId3">
            <a:alphaModFix/>
          </a:blip>
          <a:stretch>
            <a:fillRect/>
          </a:stretch>
        </p:blipFill>
        <p:spPr>
          <a:xfrm>
            <a:off x="2359975" y="263725"/>
            <a:ext cx="4424050" cy="2119300"/>
          </a:xfrm>
          <a:prstGeom prst="rect">
            <a:avLst/>
          </a:prstGeom>
          <a:noFill/>
          <a:ln>
            <a:noFill/>
          </a:ln>
        </p:spPr>
      </p:pic>
      <p:sp>
        <p:nvSpPr>
          <p:cNvPr id="61" name="Google Shape;61;p13"/>
          <p:cNvSpPr txBox="1"/>
          <p:nvPr>
            <p:ph idx="1" type="subTitle"/>
          </p:nvPr>
        </p:nvSpPr>
        <p:spPr>
          <a:xfrm>
            <a:off x="1916850" y="2882800"/>
            <a:ext cx="5310300" cy="49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35"/>
              <a:buNone/>
            </a:pPr>
            <a:r>
              <a:rPr lang="en" sz="1830">
                <a:solidFill>
                  <a:srgbClr val="FFFFFF"/>
                </a:solidFill>
              </a:rPr>
              <a:t>Workflow Queue (WFQ) Administrator Application</a:t>
            </a:r>
            <a:endParaRPr sz="1830">
              <a:solidFill>
                <a:srgbClr val="FFFFFF"/>
              </a:solidFill>
            </a:endParaRPr>
          </a:p>
        </p:txBody>
      </p:sp>
      <p:sp>
        <p:nvSpPr>
          <p:cNvPr id="62" name="Google Shape;62;p13"/>
          <p:cNvSpPr txBox="1"/>
          <p:nvPr>
            <p:ph idx="1" type="subTitle"/>
          </p:nvPr>
        </p:nvSpPr>
        <p:spPr>
          <a:xfrm>
            <a:off x="3350550" y="3451188"/>
            <a:ext cx="2442900" cy="4938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None/>
            </a:pPr>
            <a:r>
              <a:rPr lang="en" sz="1800">
                <a:solidFill>
                  <a:srgbClr val="FFFFFF"/>
                </a:solidFill>
              </a:rPr>
              <a:t>Spring 2026 Status Review</a:t>
            </a:r>
            <a:endParaRPr sz="18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168725"/>
            <a:ext cx="8520600" cy="773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Team Roles &amp; Contributions</a:t>
            </a:r>
            <a:endParaRPr/>
          </a:p>
        </p:txBody>
      </p:sp>
      <p:sp>
        <p:nvSpPr>
          <p:cNvPr id="68" name="Google Shape;68;p14"/>
          <p:cNvSpPr txBox="1"/>
          <p:nvPr>
            <p:ph idx="1" type="body"/>
          </p:nvPr>
        </p:nvSpPr>
        <p:spPr>
          <a:xfrm>
            <a:off x="311700" y="684250"/>
            <a:ext cx="8520600" cy="435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Slok - Dev Ops Engineer, SDD &amp; SRD Document, User Story Contribution</a:t>
            </a:r>
            <a:endParaRPr/>
          </a:p>
          <a:p>
            <a:pPr indent="0" lvl="0" marL="0" rtl="0" algn="l">
              <a:spcBef>
                <a:spcPts val="1200"/>
              </a:spcBef>
              <a:spcAft>
                <a:spcPts val="0"/>
              </a:spcAft>
              <a:buNone/>
            </a:pPr>
            <a:r>
              <a:rPr lang="en"/>
              <a:t>Haik - Integration Testing/Development, SDD Document</a:t>
            </a:r>
            <a:endParaRPr/>
          </a:p>
          <a:p>
            <a:pPr indent="0" lvl="0" marL="0" rtl="0" algn="l">
              <a:spcBef>
                <a:spcPts val="1200"/>
              </a:spcBef>
              <a:spcAft>
                <a:spcPts val="0"/>
              </a:spcAft>
              <a:buNone/>
            </a:pPr>
            <a:r>
              <a:rPr lang="en"/>
              <a:t>Alexander - Integration Tester, SDD Document</a:t>
            </a:r>
            <a:endParaRPr sz="1100">
              <a:solidFill>
                <a:schemeClr val="dk2"/>
              </a:solidFill>
              <a:latin typeface="Arial"/>
              <a:ea typeface="Arial"/>
              <a:cs typeface="Arial"/>
              <a:sym typeface="Arial"/>
            </a:endParaRPr>
          </a:p>
          <a:p>
            <a:pPr indent="0" lvl="0" marL="0" rtl="0" algn="l">
              <a:spcBef>
                <a:spcPts val="1200"/>
              </a:spcBef>
              <a:spcAft>
                <a:spcPts val="0"/>
              </a:spcAft>
              <a:buNone/>
            </a:pPr>
            <a:r>
              <a:rPr lang="en"/>
              <a:t>Dylan - Backend Developer, SDD Document</a:t>
            </a:r>
            <a:endParaRPr/>
          </a:p>
          <a:p>
            <a:pPr indent="0" lvl="0" marL="0" rtl="0" algn="l">
              <a:spcBef>
                <a:spcPts val="1200"/>
              </a:spcBef>
              <a:spcAft>
                <a:spcPts val="0"/>
              </a:spcAft>
              <a:buNone/>
            </a:pPr>
            <a:r>
              <a:rPr lang="en"/>
              <a:t>Edwin - Recorder, Architecture Document</a:t>
            </a:r>
            <a:endParaRPr/>
          </a:p>
          <a:p>
            <a:pPr indent="0" lvl="0" marL="0" rtl="0" algn="l">
              <a:spcBef>
                <a:spcPts val="1200"/>
              </a:spcBef>
              <a:spcAft>
                <a:spcPts val="0"/>
              </a:spcAft>
              <a:buNone/>
            </a:pPr>
            <a:r>
              <a:rPr lang="en"/>
              <a:t>Laila - Tester/Quality Assurance, SDD Document</a:t>
            </a:r>
            <a:endParaRPr/>
          </a:p>
          <a:p>
            <a:pPr indent="0" lvl="0" marL="0" rtl="0" algn="l">
              <a:spcBef>
                <a:spcPts val="1200"/>
              </a:spcBef>
              <a:spcAft>
                <a:spcPts val="0"/>
              </a:spcAft>
              <a:buNone/>
            </a:pPr>
            <a:r>
              <a:rPr lang="en"/>
              <a:t>Ruben - Team Lead, SSD Document, Tester, Backend, Frontend</a:t>
            </a:r>
            <a:endParaRPr/>
          </a:p>
          <a:p>
            <a:pPr indent="0" lvl="0" marL="0" rtl="0" algn="l">
              <a:spcBef>
                <a:spcPts val="1200"/>
              </a:spcBef>
              <a:spcAft>
                <a:spcPts val="0"/>
              </a:spcAft>
              <a:buNone/>
            </a:pPr>
            <a:r>
              <a:rPr lang="en"/>
              <a:t>Samuel - Frontend Developer, SDD Document</a:t>
            </a:r>
            <a:endParaRPr/>
          </a:p>
          <a:p>
            <a:pPr indent="0" lvl="0" marL="0" rtl="0" algn="l">
              <a:spcBef>
                <a:spcPts val="1200"/>
              </a:spcBef>
              <a:spcAft>
                <a:spcPts val="0"/>
              </a:spcAft>
              <a:buNone/>
            </a:pPr>
            <a:r>
              <a:rPr lang="en"/>
              <a:t>Zhen - Database Developer, SSD Document</a:t>
            </a:r>
            <a:endParaRPr/>
          </a:p>
          <a:p>
            <a:pPr indent="0" lvl="0" marL="0" rtl="0" algn="l">
              <a:spcBef>
                <a:spcPts val="1200"/>
              </a:spcBef>
              <a:spcAft>
                <a:spcPts val="1200"/>
              </a:spcAft>
              <a:buNone/>
            </a:pPr>
            <a:r>
              <a:rPr lang="en"/>
              <a:t>Jesus - Backend Developer, </a:t>
            </a:r>
            <a:r>
              <a:rPr lang="en"/>
              <a:t>Integration Testing,</a:t>
            </a:r>
            <a:r>
              <a:rPr lang="en"/>
              <a:t> SDD Document</a:t>
            </a:r>
            <a:endParaRPr/>
          </a:p>
        </p:txBody>
      </p:sp>
      <p:pic>
        <p:nvPicPr>
          <p:cNvPr id="69" name="Google Shape;69;p14"/>
          <p:cNvPicPr preferRelativeResize="0"/>
          <p:nvPr/>
        </p:nvPicPr>
        <p:blipFill>
          <a:blip r:embed="rId3">
            <a:alphaModFix/>
          </a:blip>
          <a:stretch>
            <a:fillRect/>
          </a:stretch>
        </p:blipFill>
        <p:spPr>
          <a:xfrm>
            <a:off x="6689163" y="2211413"/>
            <a:ext cx="2143125" cy="2143125"/>
          </a:xfrm>
          <a:prstGeom prst="rect">
            <a:avLst/>
          </a:prstGeom>
          <a:noFill/>
          <a:ln>
            <a:noFill/>
          </a:ln>
        </p:spPr>
      </p:pic>
      <p:sp>
        <p:nvSpPr>
          <p:cNvPr id="70" name="Google Shape;70;p14"/>
          <p:cNvSpPr txBox="1"/>
          <p:nvPr/>
        </p:nvSpPr>
        <p:spPr>
          <a:xfrm>
            <a:off x="7752825" y="321750"/>
            <a:ext cx="13152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Everyone</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179950"/>
            <a:ext cx="8520600" cy="65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L</a:t>
            </a:r>
            <a:r>
              <a:rPr lang="en"/>
              <a:t>QTC Overview</a:t>
            </a:r>
            <a:endParaRPr/>
          </a:p>
        </p:txBody>
      </p:sp>
      <p:sp>
        <p:nvSpPr>
          <p:cNvPr id="76" name="Google Shape;76;p15"/>
          <p:cNvSpPr txBox="1"/>
          <p:nvPr>
            <p:ph idx="1" type="body"/>
          </p:nvPr>
        </p:nvSpPr>
        <p:spPr>
          <a:xfrm>
            <a:off x="311700" y="721100"/>
            <a:ext cx="8520600" cy="384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Company Profile</a:t>
            </a:r>
            <a:r>
              <a:rPr lang="en">
                <a:solidFill>
                  <a:schemeClr val="dk1"/>
                </a:solidFill>
              </a:rPr>
              <a:t>: QTC (a Leidos Company) is the nation's largest provider of government-outsourced occupational health and disability exam services</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Scale of Operations</a:t>
            </a:r>
            <a:r>
              <a:rPr lang="en">
                <a:solidFill>
                  <a:schemeClr val="dk1"/>
                </a:solidFill>
              </a:rPr>
              <a:t>: Processing 4 million+ pages of medical records daily</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The Problem</a:t>
            </a:r>
            <a:r>
              <a:rPr lang="en">
                <a:solidFill>
                  <a:schemeClr val="dk1"/>
                </a:solidFill>
              </a:rPr>
              <a:t>: With this volume of data, the current reliance on manual SQL scripts to configure workflows is: </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Inefficient</a:t>
            </a:r>
            <a:r>
              <a:rPr lang="en">
                <a:solidFill>
                  <a:schemeClr val="dk1"/>
                </a:solidFill>
              </a:rPr>
              <a:t> for IT staff</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High-</a:t>
            </a:r>
            <a:r>
              <a:rPr b="1" lang="en">
                <a:solidFill>
                  <a:schemeClr val="dk1"/>
                </a:solidFill>
              </a:rPr>
              <a:t>risk</a:t>
            </a:r>
            <a:r>
              <a:rPr lang="en">
                <a:solidFill>
                  <a:schemeClr val="dk1"/>
                </a:solidFill>
              </a:rPr>
              <a:t> for data integrity</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Not </a:t>
            </a:r>
            <a:r>
              <a:rPr b="1" lang="en">
                <a:solidFill>
                  <a:schemeClr val="dk1"/>
                </a:solidFill>
              </a:rPr>
              <a:t>scalable</a:t>
            </a:r>
            <a:r>
              <a:rPr lang="en">
                <a:solidFill>
                  <a:schemeClr val="dk1"/>
                </a:solidFill>
              </a:rPr>
              <a:t> for rapid workflow changes</a:t>
            </a:r>
            <a:endParaRPr>
              <a:solidFill>
                <a:schemeClr val="dk1"/>
              </a:solidFill>
            </a:endParaRPr>
          </a:p>
          <a:p>
            <a:pPr indent="0" lvl="0" marL="0" rtl="0" algn="l">
              <a:spcBef>
                <a:spcPts val="1200"/>
              </a:spcBef>
              <a:spcAft>
                <a:spcPts val="1200"/>
              </a:spcAft>
              <a:buNone/>
            </a:pPr>
            <a:r>
              <a:t/>
            </a:r>
            <a:endParaRPr/>
          </a:p>
        </p:txBody>
      </p:sp>
      <p:sp>
        <p:nvSpPr>
          <p:cNvPr id="77" name="Google Shape;77;p15"/>
          <p:cNvSpPr txBox="1"/>
          <p:nvPr/>
        </p:nvSpPr>
        <p:spPr>
          <a:xfrm>
            <a:off x="7611900" y="268400"/>
            <a:ext cx="1220400" cy="4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Dylan Huang</a:t>
            </a:r>
            <a:endParaRPr sz="1500">
              <a:solidFill>
                <a:schemeClr val="lt2"/>
              </a:solidFill>
              <a:latin typeface="Source Sans Pro"/>
              <a:ea typeface="Source Sans Pro"/>
              <a:cs typeface="Source Sans Pro"/>
              <a:sym typeface="Source Sans Pro"/>
            </a:endParaRPr>
          </a:p>
        </p:txBody>
      </p:sp>
      <p:pic>
        <p:nvPicPr>
          <p:cNvPr id="78" name="Google Shape;78;p15"/>
          <p:cNvPicPr preferRelativeResize="0"/>
          <p:nvPr/>
        </p:nvPicPr>
        <p:blipFill>
          <a:blip r:embed="rId3">
            <a:alphaModFix/>
          </a:blip>
          <a:stretch>
            <a:fillRect/>
          </a:stretch>
        </p:blipFill>
        <p:spPr>
          <a:xfrm>
            <a:off x="5543675" y="2435125"/>
            <a:ext cx="2003275" cy="2003275"/>
          </a:xfrm>
          <a:prstGeom prst="rect">
            <a:avLst/>
          </a:prstGeom>
          <a:noFill/>
          <a:ln>
            <a:noFill/>
          </a:ln>
        </p:spPr>
      </p:pic>
      <p:pic>
        <p:nvPicPr>
          <p:cNvPr id="79" name="Google Shape;79;p15"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179950"/>
            <a:ext cx="8520600" cy="65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Project Objective</a:t>
            </a:r>
            <a:endParaRPr/>
          </a:p>
        </p:txBody>
      </p:sp>
      <p:sp>
        <p:nvSpPr>
          <p:cNvPr id="85" name="Google Shape;85;p16"/>
          <p:cNvSpPr txBox="1"/>
          <p:nvPr>
            <p:ph idx="1" type="body"/>
          </p:nvPr>
        </p:nvSpPr>
        <p:spPr>
          <a:xfrm>
            <a:off x="311700" y="838150"/>
            <a:ext cx="8520600" cy="3730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Objective: </a:t>
            </a:r>
            <a:r>
              <a:rPr lang="en">
                <a:solidFill>
                  <a:schemeClr val="dk1"/>
                </a:solidFill>
              </a:rPr>
              <a:t>Develop an Administrator application for the QTC Workflow Queue (WFQ) system</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Solution:</a:t>
            </a:r>
            <a:r>
              <a:rPr lang="en">
                <a:solidFill>
                  <a:schemeClr val="dk1"/>
                </a:solidFill>
              </a:rPr>
              <a:t> Replace manual database interactions with a secure, GUI-based tool.</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Core Capabilities</a:t>
            </a:r>
            <a:r>
              <a:rPr lang="en">
                <a:solidFill>
                  <a:schemeClr val="dk1"/>
                </a:solidFill>
              </a:rPr>
              <a:t>:</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Safe Configuration:</a:t>
            </a:r>
            <a:r>
              <a:rPr lang="en">
                <a:solidFill>
                  <a:schemeClr val="dk1"/>
                </a:solidFill>
              </a:rPr>
              <a:t> Create/Edit workflows without writing SQL.</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Task Intervention:</a:t>
            </a:r>
            <a:r>
              <a:rPr lang="en">
                <a:solidFill>
                  <a:schemeClr val="dk1"/>
                </a:solidFill>
              </a:rPr>
              <a:t> Reassign or complete stuck tasks via the UI.</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Compliance:</a:t>
            </a:r>
            <a:r>
              <a:rPr lang="en">
                <a:solidFill>
                  <a:schemeClr val="dk1"/>
                </a:solidFill>
              </a:rPr>
              <a:t> Enforce authorization and audit logging automatically.</a:t>
            </a:r>
            <a:endParaRPr>
              <a:solidFill>
                <a:schemeClr val="dk1"/>
              </a:solidFill>
            </a:endParaRPr>
          </a:p>
          <a:p>
            <a:pPr indent="0" lvl="0" marL="0" rtl="0" algn="l">
              <a:spcBef>
                <a:spcPts val="1200"/>
              </a:spcBef>
              <a:spcAft>
                <a:spcPts val="1200"/>
              </a:spcAft>
              <a:buNone/>
            </a:pPr>
            <a:r>
              <a:t/>
            </a:r>
            <a:endParaRPr/>
          </a:p>
        </p:txBody>
      </p:sp>
      <p:sp>
        <p:nvSpPr>
          <p:cNvPr id="86" name="Google Shape;86;p16"/>
          <p:cNvSpPr txBox="1"/>
          <p:nvPr/>
        </p:nvSpPr>
        <p:spPr>
          <a:xfrm>
            <a:off x="7412275" y="268400"/>
            <a:ext cx="1419900" cy="46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Dylan Huang</a:t>
            </a:r>
            <a:endParaRPr sz="1500">
              <a:solidFill>
                <a:schemeClr val="lt2"/>
              </a:solidFill>
              <a:latin typeface="Source Sans Pro"/>
              <a:ea typeface="Source Sans Pro"/>
              <a:cs typeface="Source Sans Pro"/>
              <a:sym typeface="Source Sans Pro"/>
            </a:endParaRPr>
          </a:p>
        </p:txBody>
      </p:sp>
      <p:pic>
        <p:nvPicPr>
          <p:cNvPr id="87" name="Google Shape;87;p16"/>
          <p:cNvPicPr preferRelativeResize="0"/>
          <p:nvPr/>
        </p:nvPicPr>
        <p:blipFill>
          <a:blip r:embed="rId3">
            <a:alphaModFix/>
          </a:blip>
          <a:stretch>
            <a:fillRect/>
          </a:stretch>
        </p:blipFill>
        <p:spPr>
          <a:xfrm>
            <a:off x="4539375" y="3102200"/>
            <a:ext cx="3463325" cy="1891150"/>
          </a:xfrm>
          <a:prstGeom prst="rect">
            <a:avLst/>
          </a:prstGeom>
          <a:noFill/>
          <a:ln>
            <a:noFill/>
          </a:ln>
        </p:spPr>
      </p:pic>
      <p:pic>
        <p:nvPicPr>
          <p:cNvPr id="88" name="Google Shape;88;p16"/>
          <p:cNvPicPr preferRelativeResize="0"/>
          <p:nvPr/>
        </p:nvPicPr>
        <p:blipFill>
          <a:blip r:embed="rId4">
            <a:alphaModFix/>
          </a:blip>
          <a:stretch>
            <a:fillRect/>
          </a:stretch>
        </p:blipFill>
        <p:spPr>
          <a:xfrm>
            <a:off x="881438" y="2946938"/>
            <a:ext cx="2143125" cy="2143125"/>
          </a:xfrm>
          <a:prstGeom prst="rect">
            <a:avLst/>
          </a:prstGeom>
          <a:noFill/>
          <a:ln>
            <a:noFill/>
          </a:ln>
        </p:spPr>
      </p:pic>
      <p:pic>
        <p:nvPicPr>
          <p:cNvPr id="89" name="Google Shape;89;p16" title="ae03b84b-bb67-44cb-95d5-5a94c9f004af.png.jpg"/>
          <p:cNvPicPr preferRelativeResize="0"/>
          <p:nvPr/>
        </p:nvPicPr>
        <p:blipFill>
          <a:blip r:embed="rId5">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0"/>
            <a:ext cx="8520600" cy="54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Requirements &amp; Design Documentation Overview</a:t>
            </a:r>
            <a:endParaRPr/>
          </a:p>
        </p:txBody>
      </p:sp>
      <p:sp>
        <p:nvSpPr>
          <p:cNvPr id="95" name="Google Shape;95;p17"/>
          <p:cNvSpPr txBox="1"/>
          <p:nvPr>
            <p:ph idx="1" type="body"/>
          </p:nvPr>
        </p:nvSpPr>
        <p:spPr>
          <a:xfrm>
            <a:off x="311700" y="542550"/>
            <a:ext cx="8520600" cy="46011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SDD (Software Design Document)</a:t>
            </a:r>
            <a:br>
              <a:rPr b="1" lang="en" sz="1100">
                <a:solidFill>
                  <a:schemeClr val="dk1"/>
                </a:solidFill>
              </a:rPr>
            </a:b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Architecture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Data flow</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Constraints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Security (HIPAA section)</a:t>
            </a:r>
            <a:endParaRPr sz="1100">
              <a:solidFill>
                <a:schemeClr val="dk1"/>
              </a:solidFill>
            </a:endParaRPr>
          </a:p>
          <a:p>
            <a:pPr indent="0" lvl="0" marL="0" rtl="0" algn="l">
              <a:spcBef>
                <a:spcPts val="1200"/>
              </a:spcBef>
              <a:spcAft>
                <a:spcPts val="1200"/>
              </a:spcAft>
              <a:buNone/>
            </a:pPr>
            <a:r>
              <a:t/>
            </a:r>
            <a:endParaRPr sz="1100"/>
          </a:p>
        </p:txBody>
      </p:sp>
      <p:pic>
        <p:nvPicPr>
          <p:cNvPr id="96" name="Google Shape;96;p17"/>
          <p:cNvPicPr preferRelativeResize="0"/>
          <p:nvPr/>
        </p:nvPicPr>
        <p:blipFill>
          <a:blip r:embed="rId3">
            <a:alphaModFix/>
          </a:blip>
          <a:stretch>
            <a:fillRect/>
          </a:stretch>
        </p:blipFill>
        <p:spPr>
          <a:xfrm>
            <a:off x="6050075" y="638625"/>
            <a:ext cx="2172475" cy="2172500"/>
          </a:xfrm>
          <a:prstGeom prst="rect">
            <a:avLst/>
          </a:prstGeom>
          <a:noFill/>
          <a:ln>
            <a:noFill/>
          </a:ln>
        </p:spPr>
      </p:pic>
      <p:pic>
        <p:nvPicPr>
          <p:cNvPr id="97" name="Google Shape;97;p17"/>
          <p:cNvPicPr preferRelativeResize="0"/>
          <p:nvPr/>
        </p:nvPicPr>
        <p:blipFill>
          <a:blip r:embed="rId4">
            <a:alphaModFix/>
          </a:blip>
          <a:stretch>
            <a:fillRect/>
          </a:stretch>
        </p:blipFill>
        <p:spPr>
          <a:xfrm>
            <a:off x="3594388" y="2811113"/>
            <a:ext cx="2143125" cy="2143125"/>
          </a:xfrm>
          <a:prstGeom prst="rect">
            <a:avLst/>
          </a:prstGeom>
          <a:noFill/>
          <a:ln>
            <a:noFill/>
          </a:ln>
        </p:spPr>
      </p:pic>
      <p:sp>
        <p:nvSpPr>
          <p:cNvPr id="98" name="Google Shape;98;p17"/>
          <p:cNvSpPr txBox="1"/>
          <p:nvPr/>
        </p:nvSpPr>
        <p:spPr>
          <a:xfrm>
            <a:off x="7388800" y="4467100"/>
            <a:ext cx="12801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Jesus</a:t>
            </a:r>
            <a:endParaRPr sz="1800">
              <a:solidFill>
                <a:schemeClr val="lt2"/>
              </a:solidFill>
              <a:latin typeface="Source Sans Pro"/>
              <a:ea typeface="Source Sans Pro"/>
              <a:cs typeface="Source Sans Pro"/>
              <a:sym typeface="Source Sans Pro"/>
            </a:endParaRPr>
          </a:p>
        </p:txBody>
      </p:sp>
      <p:pic>
        <p:nvPicPr>
          <p:cNvPr id="99" name="Google Shape;99;p17" title="ae03b84b-bb67-44cb-95d5-5a94c9f004af.png.jpg"/>
          <p:cNvPicPr preferRelativeResize="0"/>
          <p:nvPr/>
        </p:nvPicPr>
        <p:blipFill>
          <a:blip r:embed="rId5">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Compliance And Regulatory Requirements</a:t>
            </a:r>
            <a:endParaRPr/>
          </a:p>
        </p:txBody>
      </p:sp>
      <p:sp>
        <p:nvSpPr>
          <p:cNvPr id="105" name="Google Shape;10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solidFill>
                  <a:schemeClr val="dk1"/>
                </a:solidFill>
              </a:rPr>
              <a:t>To ensure compliance with U.S. healthcare privacy laws, the system must meet the standards defined by HIPAA and HITECH.</a:t>
            </a:r>
            <a:endParaRPr>
              <a:solidFill>
                <a:schemeClr val="dk1"/>
              </a:solidFill>
            </a:endParaRPr>
          </a:p>
          <a:p>
            <a:pPr indent="0" lvl="0" marL="0" rtl="0" algn="l">
              <a:spcBef>
                <a:spcPts val="1200"/>
              </a:spcBef>
              <a:spcAft>
                <a:spcPts val="0"/>
              </a:spcAft>
              <a:buNone/>
            </a:pPr>
            <a:r>
              <a:rPr lang="en">
                <a:solidFill>
                  <a:schemeClr val="dk1"/>
                </a:solidFill>
              </a:rPr>
              <a:t>HIPAA - a federal law that protects patient health information. It </a:t>
            </a:r>
            <a:r>
              <a:rPr lang="en">
                <a:solidFill>
                  <a:schemeClr val="dk1"/>
                </a:solidFill>
              </a:rPr>
              <a:t>requires</a:t>
            </a:r>
            <a:r>
              <a:rPr lang="en">
                <a:solidFill>
                  <a:schemeClr val="dk1"/>
                </a:solidFill>
              </a:rPr>
              <a:t> safeguards to ensure confidentiality, integrity, and limited access to sensitive medical data.</a:t>
            </a:r>
            <a:endParaRPr>
              <a:solidFill>
                <a:schemeClr val="dk1"/>
              </a:solidFill>
            </a:endParaRPr>
          </a:p>
          <a:p>
            <a:pPr indent="0" lvl="0" marL="0" rtl="0" algn="l">
              <a:spcBef>
                <a:spcPts val="1200"/>
              </a:spcBef>
              <a:spcAft>
                <a:spcPts val="0"/>
              </a:spcAft>
              <a:buNone/>
            </a:pPr>
            <a:r>
              <a:rPr lang="en">
                <a:solidFill>
                  <a:schemeClr val="dk1"/>
                </a:solidFill>
              </a:rPr>
              <a:t>HITECH - A law that </a:t>
            </a:r>
            <a:r>
              <a:rPr lang="en">
                <a:solidFill>
                  <a:schemeClr val="dk1"/>
                </a:solidFill>
              </a:rPr>
              <a:t>strengthens</a:t>
            </a:r>
            <a:r>
              <a:rPr lang="en">
                <a:solidFill>
                  <a:schemeClr val="dk1"/>
                </a:solidFill>
              </a:rPr>
              <a:t> HIPAA by increasing penalties for improper access, expanding requirements for data breach notifications, and promoting secure electronic health record practices</a:t>
            </a:r>
            <a:endParaRPr>
              <a:solidFill>
                <a:schemeClr val="dk1"/>
              </a:solidFill>
            </a:endParaRPr>
          </a:p>
          <a:p>
            <a:pPr indent="0" lvl="0" marL="0" rtl="0" algn="l">
              <a:spcBef>
                <a:spcPts val="1200"/>
              </a:spcBef>
              <a:spcAft>
                <a:spcPts val="0"/>
              </a:spcAft>
              <a:buNone/>
            </a:pPr>
            <a:r>
              <a:rPr lang="en">
                <a:solidFill>
                  <a:schemeClr val="dk1"/>
                </a:solidFill>
              </a:rPr>
              <a:t>This means the software must:</a:t>
            </a:r>
            <a:endParaRPr>
              <a:solidFill>
                <a:schemeClr val="dk1"/>
              </a:solidFill>
            </a:endParaRPr>
          </a:p>
          <a:p>
            <a:pPr indent="-317183" lvl="0" marL="457200" rtl="0" algn="l">
              <a:spcBef>
                <a:spcPts val="1200"/>
              </a:spcBef>
              <a:spcAft>
                <a:spcPts val="0"/>
              </a:spcAft>
              <a:buClr>
                <a:schemeClr val="dk1"/>
              </a:buClr>
              <a:buSzPct val="100000"/>
              <a:buChar char="●"/>
            </a:pPr>
            <a:r>
              <a:rPr lang="en">
                <a:solidFill>
                  <a:schemeClr val="dk1"/>
                </a:solidFill>
              </a:rPr>
              <a:t>Allow only authorized users such as admins to access data</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Admins are only allowed to see what is </a:t>
            </a:r>
            <a:r>
              <a:rPr lang="en">
                <a:solidFill>
                  <a:schemeClr val="dk1"/>
                </a:solidFill>
              </a:rPr>
              <a:t>necessary</a:t>
            </a:r>
            <a:r>
              <a:rPr lang="en">
                <a:solidFill>
                  <a:schemeClr val="dk1"/>
                </a:solidFill>
              </a:rPr>
              <a:t> </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Sessions are timed out after periods of inactivity</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Confirmations are needed before </a:t>
            </a:r>
            <a:r>
              <a:rPr lang="en">
                <a:solidFill>
                  <a:schemeClr val="dk1"/>
                </a:solidFill>
              </a:rPr>
              <a:t>committing</a:t>
            </a:r>
            <a:r>
              <a:rPr lang="en">
                <a:solidFill>
                  <a:schemeClr val="dk1"/>
                </a:solidFill>
              </a:rPr>
              <a:t> critical actions</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Display masked identifiers when possible such as birthdays</a:t>
            </a:r>
            <a:endParaRPr>
              <a:solidFill>
                <a:schemeClr val="dk1"/>
              </a:solidFill>
            </a:endParaRPr>
          </a:p>
        </p:txBody>
      </p:sp>
      <p:sp>
        <p:nvSpPr>
          <p:cNvPr id="106" name="Google Shape;106;p18"/>
          <p:cNvSpPr txBox="1"/>
          <p:nvPr/>
        </p:nvSpPr>
        <p:spPr>
          <a:xfrm>
            <a:off x="6320175" y="63425"/>
            <a:ext cx="2301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Source Sans Pro"/>
                <a:ea typeface="Source Sans Pro"/>
                <a:cs typeface="Source Sans Pro"/>
                <a:sym typeface="Source Sans Pro"/>
              </a:rPr>
              <a:t>Zhen Zhao &amp; Samuel</a:t>
            </a:r>
            <a:endParaRPr sz="1200">
              <a:solidFill>
                <a:schemeClr val="lt2"/>
              </a:solidFill>
              <a:latin typeface="Source Sans Pro"/>
              <a:ea typeface="Source Sans Pro"/>
              <a:cs typeface="Source Sans Pro"/>
              <a:sym typeface="Source Sans Pro"/>
            </a:endParaRPr>
          </a:p>
        </p:txBody>
      </p:sp>
      <p:pic>
        <p:nvPicPr>
          <p:cNvPr id="107" name="Google Shape;107;p18"/>
          <p:cNvPicPr preferRelativeResize="0"/>
          <p:nvPr/>
        </p:nvPicPr>
        <p:blipFill>
          <a:blip r:embed="rId3">
            <a:alphaModFix/>
          </a:blip>
          <a:stretch>
            <a:fillRect/>
          </a:stretch>
        </p:blipFill>
        <p:spPr>
          <a:xfrm>
            <a:off x="6413975" y="3648900"/>
            <a:ext cx="1438325" cy="1438325"/>
          </a:xfrm>
          <a:prstGeom prst="rect">
            <a:avLst/>
          </a:prstGeom>
          <a:noFill/>
          <a:ln>
            <a:noFill/>
          </a:ln>
        </p:spPr>
      </p:pic>
      <p:pic>
        <p:nvPicPr>
          <p:cNvPr id="108" name="Google Shape;108;p18"/>
          <p:cNvPicPr preferRelativeResize="0"/>
          <p:nvPr/>
        </p:nvPicPr>
        <p:blipFill>
          <a:blip r:embed="rId4">
            <a:alphaModFix/>
          </a:blip>
          <a:stretch>
            <a:fillRect/>
          </a:stretch>
        </p:blipFill>
        <p:spPr>
          <a:xfrm>
            <a:off x="5866474" y="2803604"/>
            <a:ext cx="2533325" cy="1077150"/>
          </a:xfrm>
          <a:prstGeom prst="rect">
            <a:avLst/>
          </a:prstGeom>
          <a:noFill/>
          <a:ln>
            <a:noFill/>
          </a:ln>
        </p:spPr>
      </p:pic>
      <p:pic>
        <p:nvPicPr>
          <p:cNvPr id="109" name="Google Shape;109;p18" title="ae03b84b-bb67-44cb-95d5-5a94c9f004af.png.jpg"/>
          <p:cNvPicPr preferRelativeResize="0"/>
          <p:nvPr/>
        </p:nvPicPr>
        <p:blipFill>
          <a:blip r:embed="rId5">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Software Design Document (SDD)</a:t>
            </a:r>
            <a:endParaRPr/>
          </a:p>
        </p:txBody>
      </p:sp>
      <p:sp>
        <p:nvSpPr>
          <p:cNvPr id="115" name="Google Shape;115;p19"/>
          <p:cNvSpPr txBox="1"/>
          <p:nvPr>
            <p:ph idx="1" type="body"/>
          </p:nvPr>
        </p:nvSpPr>
        <p:spPr>
          <a:xfrm>
            <a:off x="311700" y="1191375"/>
            <a:ext cx="42603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Char char="●"/>
            </a:pPr>
            <a:r>
              <a:rPr lang="en" sz="1400">
                <a:solidFill>
                  <a:schemeClr val="dk1"/>
                </a:solidFill>
              </a:rPr>
              <a:t>Design Considerations (2)</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Architecture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System Architecture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Policies and Tactics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Detailed System Design (6)</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Detailed Lower Level Component Design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Database Design (8)</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User Interface (UI)</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Requiring Validation and Verification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Glossary and References</a:t>
            </a:r>
            <a:endParaRPr sz="1500">
              <a:solidFill>
                <a:schemeClr val="dk1"/>
              </a:solidFill>
            </a:endParaRPr>
          </a:p>
        </p:txBody>
      </p:sp>
      <p:sp>
        <p:nvSpPr>
          <p:cNvPr id="116" name="Google Shape;116;p19"/>
          <p:cNvSpPr txBox="1"/>
          <p:nvPr>
            <p:ph idx="1" type="body"/>
          </p:nvPr>
        </p:nvSpPr>
        <p:spPr>
          <a:xfrm>
            <a:off x="4883700" y="954975"/>
            <a:ext cx="4260300" cy="36528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1200"/>
              </a:spcBef>
              <a:spcAft>
                <a:spcPts val="0"/>
              </a:spcAft>
              <a:buNone/>
            </a:pPr>
            <a:r>
              <a:t/>
            </a:r>
            <a:endParaRPr sz="1100">
              <a:solidFill>
                <a:schemeClr val="dk1"/>
              </a:solidFill>
            </a:endParaRPr>
          </a:p>
          <a:p>
            <a:pPr indent="-293211" lvl="0" marL="457200" rtl="0" algn="l">
              <a:lnSpc>
                <a:spcPct val="100000"/>
              </a:lnSpc>
              <a:spcBef>
                <a:spcPts val="1200"/>
              </a:spcBef>
              <a:spcAft>
                <a:spcPts val="0"/>
              </a:spcAft>
              <a:buClr>
                <a:schemeClr val="dk1"/>
              </a:buClr>
              <a:buSzPct val="100000"/>
              <a:buChar char="●"/>
            </a:pPr>
            <a:r>
              <a:rPr lang="en" sz="1100">
                <a:solidFill>
                  <a:schemeClr val="dk1"/>
                </a:solidFill>
              </a:rPr>
              <a:t>Dependencies and Challenges  (2.1)</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We are entirely dependent on Existing WRF Database Schema and its procedures.</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Risk of Data Corruption if an operation is not handled correctly. To mitigate this risk, all database operations will use atomic transactions. Which ensures that an operation is either fully completed or fails completely. </a:t>
            </a:r>
            <a:br>
              <a:rPr lang="en" sz="1100">
                <a:solidFill>
                  <a:schemeClr val="dk1"/>
                </a:solidFill>
              </a:rPr>
            </a:br>
            <a:endParaRPr sz="1100">
              <a:solidFill>
                <a:schemeClr val="dk1"/>
              </a:solidFill>
            </a:endParaRPr>
          </a:p>
          <a:p>
            <a:pPr indent="-293211" lvl="0" marL="457200" rtl="0" algn="l">
              <a:lnSpc>
                <a:spcPct val="100000"/>
              </a:lnSpc>
              <a:spcBef>
                <a:spcPts val="0"/>
              </a:spcBef>
              <a:spcAft>
                <a:spcPts val="0"/>
              </a:spcAft>
              <a:buClr>
                <a:schemeClr val="dk1"/>
              </a:buClr>
              <a:buSzPct val="100000"/>
              <a:buChar char="●"/>
            </a:pPr>
            <a:r>
              <a:rPr lang="en" sz="1100">
                <a:solidFill>
                  <a:schemeClr val="dk1"/>
                </a:solidFill>
              </a:rPr>
              <a:t>Constraints (2.2)</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Standards Compliance - HIPAA and PHI</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Existing Technology Stack - Constrained to the limitations of C#, MS SQL and </a:t>
            </a:r>
            <a:r>
              <a:rPr lang="en" sz="1100" u="sng">
                <a:solidFill>
                  <a:schemeClr val="hlink"/>
                </a:solidFill>
                <a:hlinkClick r:id="rId3"/>
              </a:rPr>
              <a:t>ASP.NET</a:t>
            </a:r>
            <a:r>
              <a:rPr lang="en" sz="1100">
                <a:solidFill>
                  <a:schemeClr val="dk1"/>
                </a:solidFill>
              </a:rPr>
              <a:t>. Mainly to ensure reliability, maintainability and consistency within QTC’s ecosystem.</a:t>
            </a:r>
            <a:endParaRPr sz="1100">
              <a:solidFill>
                <a:schemeClr val="dk1"/>
              </a:solidFill>
            </a:endParaRPr>
          </a:p>
          <a:p>
            <a:pPr indent="-293211" lvl="0" marL="457200" rtl="0" algn="l">
              <a:lnSpc>
                <a:spcPct val="100000"/>
              </a:lnSpc>
              <a:spcBef>
                <a:spcPts val="0"/>
              </a:spcBef>
              <a:spcAft>
                <a:spcPts val="0"/>
              </a:spcAft>
              <a:buClr>
                <a:schemeClr val="dk1"/>
              </a:buClr>
              <a:buSzPct val="100000"/>
              <a:buChar char="●"/>
            </a:pPr>
            <a:r>
              <a:rPr lang="en" sz="1100">
                <a:solidFill>
                  <a:schemeClr val="dk1"/>
                </a:solidFill>
              </a:rPr>
              <a:t>Admin UI Module (6.1)</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Render data from backend into user-friendly view.</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Perform Client-Side input validation</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Initiate all system actions by sending structured HTTP requests to the Admin Backend Module.</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Display system status, confirmations and error messages returned from the backend.</a:t>
            </a:r>
            <a:endParaRPr sz="1100">
              <a:solidFill>
                <a:schemeClr val="dk1"/>
              </a:solidFill>
            </a:endParaRPr>
          </a:p>
          <a:p>
            <a:pPr indent="-293211" lvl="0" marL="457200" rtl="0" algn="l">
              <a:lnSpc>
                <a:spcPct val="100000"/>
              </a:lnSpc>
              <a:spcBef>
                <a:spcPts val="0"/>
              </a:spcBef>
              <a:spcAft>
                <a:spcPts val="0"/>
              </a:spcAft>
              <a:buClr>
                <a:schemeClr val="dk1"/>
              </a:buClr>
              <a:buSzPct val="100000"/>
              <a:buChar char="●"/>
            </a:pPr>
            <a:r>
              <a:rPr lang="en" sz="1100">
                <a:solidFill>
                  <a:schemeClr val="dk1"/>
                </a:solidFill>
              </a:rPr>
              <a:t>Guidelines and Restrictions (5)</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Security regulations including RBAC (Role Based Access Control and compliance with federal law.</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
        <p:nvSpPr>
          <p:cNvPr id="117" name="Google Shape;117;p19"/>
          <p:cNvSpPr txBox="1"/>
          <p:nvPr/>
        </p:nvSpPr>
        <p:spPr>
          <a:xfrm>
            <a:off x="7553200" y="157350"/>
            <a:ext cx="13857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Haik</a:t>
            </a:r>
            <a:endParaRPr sz="1500">
              <a:solidFill>
                <a:schemeClr val="lt2"/>
              </a:solidFill>
              <a:latin typeface="Source Sans Pro"/>
              <a:ea typeface="Source Sans Pro"/>
              <a:cs typeface="Source Sans Pro"/>
              <a:sym typeface="Source Sans Pro"/>
            </a:endParaRPr>
          </a:p>
        </p:txBody>
      </p:sp>
      <p:pic>
        <p:nvPicPr>
          <p:cNvPr id="118" name="Google Shape;118;p19"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Software Design Document (SDD)</a:t>
            </a:r>
            <a:endParaRPr/>
          </a:p>
        </p:txBody>
      </p:sp>
      <p:sp>
        <p:nvSpPr>
          <p:cNvPr id="124" name="Google Shape;124;p20"/>
          <p:cNvSpPr txBox="1"/>
          <p:nvPr>
            <p:ph idx="1" type="body"/>
          </p:nvPr>
        </p:nvSpPr>
        <p:spPr>
          <a:xfrm>
            <a:off x="311700" y="1191375"/>
            <a:ext cx="42603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Char char="●"/>
            </a:pPr>
            <a:r>
              <a:rPr lang="en" sz="1400">
                <a:solidFill>
                  <a:schemeClr val="dk1"/>
                </a:solidFill>
              </a:rPr>
              <a:t>Design Considerations (2)</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Architecture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System Architecture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Policies and Tactics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Detailed System Design (6)</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Detailed Lower Level Component Design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Database Design (8)</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User Interface (UI)</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Requiring Validation and Verification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Glossary and References</a:t>
            </a:r>
            <a:endParaRPr sz="1500">
              <a:solidFill>
                <a:schemeClr val="dk1"/>
              </a:solidFill>
            </a:endParaRPr>
          </a:p>
        </p:txBody>
      </p:sp>
      <p:sp>
        <p:nvSpPr>
          <p:cNvPr id="125" name="Google Shape;125;p20"/>
          <p:cNvSpPr txBox="1"/>
          <p:nvPr>
            <p:ph idx="1" type="body"/>
          </p:nvPr>
        </p:nvSpPr>
        <p:spPr>
          <a:xfrm>
            <a:off x="4883700" y="863550"/>
            <a:ext cx="4260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t/>
            </a:r>
            <a:endParaRPr sz="1100">
              <a:solidFill>
                <a:schemeClr val="dk1"/>
              </a:solidFill>
            </a:endParaRPr>
          </a:p>
          <a:p>
            <a:pPr indent="-298450" lvl="0" marL="457200" rtl="0" algn="l">
              <a:lnSpc>
                <a:spcPct val="100000"/>
              </a:lnSpc>
              <a:spcBef>
                <a:spcPts val="1200"/>
              </a:spcBef>
              <a:spcAft>
                <a:spcPts val="0"/>
              </a:spcAft>
              <a:buClr>
                <a:schemeClr val="dk1"/>
              </a:buClr>
              <a:buSzPts val="1100"/>
              <a:buChar char="●"/>
            </a:pPr>
            <a:r>
              <a:rPr lang="en" sz="1100">
                <a:solidFill>
                  <a:schemeClr val="dk1"/>
                </a:solidFill>
              </a:rPr>
              <a:t>Data Access Module (6.4)</a:t>
            </a:r>
            <a:endParaRPr sz="1100">
              <a:solidFill>
                <a:schemeClr val="dk1"/>
              </a:solidFill>
            </a:endParaRPr>
          </a:p>
          <a:p>
            <a:pPr indent="-298450" lvl="1" marL="914400" rtl="0" algn="l">
              <a:lnSpc>
                <a:spcPct val="100000"/>
              </a:lnSpc>
              <a:spcBef>
                <a:spcPts val="0"/>
              </a:spcBef>
              <a:spcAft>
                <a:spcPts val="0"/>
              </a:spcAft>
              <a:buClr>
                <a:schemeClr val="dk1"/>
              </a:buClr>
              <a:buSzPts val="1100"/>
              <a:buAutoNum type="alphaLcPeriod"/>
            </a:pPr>
            <a:r>
              <a:rPr lang="en" sz="1100">
                <a:solidFill>
                  <a:schemeClr val="dk1"/>
                </a:solidFill>
              </a:rPr>
              <a:t>Purpose is to encapsulate all database interaction logic.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Authorization Module (6.5)</a:t>
            </a:r>
            <a:endParaRPr sz="1100">
              <a:solidFill>
                <a:schemeClr val="dk1"/>
              </a:solidFill>
            </a:endParaRPr>
          </a:p>
          <a:p>
            <a:pPr indent="-298450" lvl="1" marL="914400" rtl="0" algn="l">
              <a:lnSpc>
                <a:spcPct val="100000"/>
              </a:lnSpc>
              <a:spcBef>
                <a:spcPts val="0"/>
              </a:spcBef>
              <a:spcAft>
                <a:spcPts val="0"/>
              </a:spcAft>
              <a:buClr>
                <a:schemeClr val="dk1"/>
              </a:buClr>
              <a:buSzPts val="1100"/>
              <a:buAutoNum type="alphaLcPeriod"/>
            </a:pPr>
            <a:r>
              <a:rPr lang="en" sz="1100">
                <a:solidFill>
                  <a:schemeClr val="dk1"/>
                </a:solidFill>
              </a:rPr>
              <a:t>Determines if the user is an Admin.</a:t>
            </a:r>
            <a:endParaRPr sz="1100">
              <a:solidFill>
                <a:schemeClr val="dk1"/>
              </a:solidFill>
            </a:endParaRPr>
          </a:p>
          <a:p>
            <a:pPr indent="-298450" lvl="1" marL="914400" rtl="0" algn="l">
              <a:lnSpc>
                <a:spcPct val="100000"/>
              </a:lnSpc>
              <a:spcBef>
                <a:spcPts val="0"/>
              </a:spcBef>
              <a:spcAft>
                <a:spcPts val="0"/>
              </a:spcAft>
              <a:buClr>
                <a:schemeClr val="dk1"/>
              </a:buClr>
              <a:buSzPts val="1100"/>
              <a:buAutoNum type="alphaLcPeriod"/>
            </a:pPr>
            <a:r>
              <a:rPr lang="en" sz="1100">
                <a:solidFill>
                  <a:schemeClr val="dk1"/>
                </a:solidFill>
              </a:rPr>
              <a:t>Exports an authorization policy or mechanism that can be applied to controllers.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Design Rationale (8.4)</a:t>
            </a:r>
            <a:endParaRPr sz="1100">
              <a:solidFill>
                <a:schemeClr val="dk1"/>
              </a:solidFill>
            </a:endParaRPr>
          </a:p>
          <a:p>
            <a:pPr indent="-298450" lvl="1" marL="914400" rtl="0" algn="l">
              <a:lnSpc>
                <a:spcPct val="100000"/>
              </a:lnSpc>
              <a:spcBef>
                <a:spcPts val="0"/>
              </a:spcBef>
              <a:spcAft>
                <a:spcPts val="0"/>
              </a:spcAft>
              <a:buClr>
                <a:schemeClr val="dk1"/>
              </a:buClr>
              <a:buSzPts val="1100"/>
              <a:buAutoNum type="alphaLcPeriod"/>
            </a:pPr>
            <a:r>
              <a:rPr lang="en" sz="1100">
                <a:solidFill>
                  <a:schemeClr val="dk1"/>
                </a:solidFill>
              </a:rPr>
              <a:t>Normalization allows for minimum redundancy and high data integrity</a:t>
            </a:r>
            <a:endParaRPr sz="1100">
              <a:solidFill>
                <a:schemeClr val="dk1"/>
              </a:solidFill>
            </a:endParaRPr>
          </a:p>
          <a:p>
            <a:pPr indent="-298450" lvl="1" marL="914400" rtl="0" algn="l">
              <a:lnSpc>
                <a:spcPct val="100000"/>
              </a:lnSpc>
              <a:spcBef>
                <a:spcPts val="0"/>
              </a:spcBef>
              <a:spcAft>
                <a:spcPts val="0"/>
              </a:spcAft>
              <a:buClr>
                <a:schemeClr val="dk1"/>
              </a:buClr>
              <a:buSzPts val="1100"/>
              <a:buAutoNum type="alphaLcPeriod"/>
            </a:pPr>
            <a:r>
              <a:rPr lang="en" sz="1100">
                <a:solidFill>
                  <a:schemeClr val="dk1"/>
                </a:solidFill>
              </a:rPr>
              <a:t>Auditability, all tables include CreatedBy, CreatedDate, UpdatedBy. And UpdatedDate for full traceability.</a:t>
            </a:r>
            <a:endParaRPr sz="1100">
              <a:solidFill>
                <a:schemeClr val="dk1"/>
              </a:solidFill>
            </a:endParaRPr>
          </a:p>
          <a:p>
            <a:pPr indent="-298450" lvl="1" marL="914400" rtl="0" algn="l">
              <a:lnSpc>
                <a:spcPct val="100000"/>
              </a:lnSpc>
              <a:spcBef>
                <a:spcPts val="0"/>
              </a:spcBef>
              <a:spcAft>
                <a:spcPts val="0"/>
              </a:spcAft>
              <a:buClr>
                <a:schemeClr val="dk1"/>
              </a:buClr>
              <a:buSzPts val="1100"/>
              <a:buAutoNum type="alphaLcPeriod"/>
            </a:pPr>
            <a:r>
              <a:rPr lang="en" sz="1100">
                <a:solidFill>
                  <a:schemeClr val="dk1"/>
                </a:solidFill>
              </a:rPr>
              <a:t>Scalability, Separation between Task, Item and Workflow allows distributed task processing and reporting scalability.</a:t>
            </a:r>
            <a:endParaRPr sz="1100">
              <a:solidFill>
                <a:schemeClr val="dk1"/>
              </a:solidFill>
            </a:endParaRPr>
          </a:p>
          <a:p>
            <a:pPr indent="0" lvl="0" marL="457200" rtl="0" algn="l">
              <a:lnSpc>
                <a:spcPct val="100000"/>
              </a:lnSpc>
              <a:spcBef>
                <a:spcPts val="1200"/>
              </a:spcBef>
              <a:spcAft>
                <a:spcPts val="1200"/>
              </a:spcAft>
              <a:buNone/>
            </a:pPr>
            <a:r>
              <a:t/>
            </a:r>
            <a:endParaRPr sz="1100">
              <a:solidFill>
                <a:schemeClr val="dk1"/>
              </a:solidFill>
            </a:endParaRPr>
          </a:p>
        </p:txBody>
      </p:sp>
      <p:sp>
        <p:nvSpPr>
          <p:cNvPr id="126" name="Google Shape;126;p20"/>
          <p:cNvSpPr txBox="1"/>
          <p:nvPr/>
        </p:nvSpPr>
        <p:spPr>
          <a:xfrm>
            <a:off x="7553200" y="157350"/>
            <a:ext cx="13857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Haik</a:t>
            </a:r>
            <a:endParaRPr sz="1500">
              <a:solidFill>
                <a:schemeClr val="lt2"/>
              </a:solidFill>
              <a:latin typeface="Source Sans Pro"/>
              <a:ea typeface="Source Sans Pro"/>
              <a:cs typeface="Source Sans Pro"/>
              <a:sym typeface="Source Sans Pro"/>
            </a:endParaRPr>
          </a:p>
        </p:txBody>
      </p:sp>
      <p:pic>
        <p:nvPicPr>
          <p:cNvPr id="127" name="Google Shape;127;p20" title="ae03b84b-bb67-44cb-95d5-5a94c9f004af.png.jpg"/>
          <p:cNvPicPr preferRelativeResize="0"/>
          <p:nvPr/>
        </p:nvPicPr>
        <p:blipFill>
          <a:blip r:embed="rId3">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Architecture &amp; Integration </a:t>
            </a:r>
            <a:endParaRPr/>
          </a:p>
        </p:txBody>
      </p:sp>
      <p:sp>
        <p:nvSpPr>
          <p:cNvPr id="133" name="Google Shape;133;p21"/>
          <p:cNvSpPr txBox="1"/>
          <p:nvPr>
            <p:ph idx="1" type="body"/>
          </p:nvPr>
        </p:nvSpPr>
        <p:spPr>
          <a:xfrm>
            <a:off x="311700" y="1191375"/>
            <a:ext cx="5017200" cy="3614700"/>
          </a:xfrm>
          <a:prstGeom prst="rect">
            <a:avLst/>
          </a:prstGeom>
        </p:spPr>
        <p:txBody>
          <a:bodyPr anchorCtr="0" anchor="t" bIns="91425" lIns="91425" spcFirstLastPara="1" rIns="91425" wrap="square" tIns="91425">
            <a:normAutofit lnSpcReduction="10000"/>
          </a:bodyPr>
          <a:lstStyle/>
          <a:p>
            <a:pPr indent="-317500" lvl="0" marL="457200" rtl="0" algn="l">
              <a:spcBef>
                <a:spcPts val="1200"/>
              </a:spcBef>
              <a:spcAft>
                <a:spcPts val="0"/>
              </a:spcAft>
              <a:buClr>
                <a:schemeClr val="dk1"/>
              </a:buClr>
              <a:buSzPts val="1400"/>
              <a:buChar char="●"/>
            </a:pPr>
            <a:r>
              <a:rPr b="1" lang="en" sz="1400">
                <a:solidFill>
                  <a:schemeClr val="dk1"/>
                </a:solidFill>
              </a:rPr>
              <a:t>Modern Web Framework:</a:t>
            </a:r>
            <a:r>
              <a:rPr lang="en" sz="1400">
                <a:solidFill>
                  <a:schemeClr val="dk1"/>
                </a:solidFill>
              </a:rPr>
              <a:t> Built on ASP.NET Core 8 MVC, utilizing Razor Views and custom Bootstrap for a responsive, Section 508-accessible frontend.</a:t>
            </a:r>
            <a:endParaRPr sz="1400">
              <a:solidFill>
                <a:schemeClr val="dk1"/>
              </a:solidFill>
            </a:endParaRPr>
          </a:p>
          <a:p>
            <a:pPr indent="-317500" lvl="0" marL="457200" rtl="0" algn="l">
              <a:spcBef>
                <a:spcPts val="0"/>
              </a:spcBef>
              <a:spcAft>
                <a:spcPts val="0"/>
              </a:spcAft>
              <a:buClr>
                <a:schemeClr val="dk1"/>
              </a:buClr>
              <a:buSzPts val="1400"/>
              <a:buChar char="●"/>
            </a:pPr>
            <a:r>
              <a:rPr b="1" lang="en" sz="1500">
                <a:solidFill>
                  <a:schemeClr val="dk1"/>
                </a:solidFill>
              </a:rPr>
              <a:t>Strict "Database-First" Integration</a:t>
            </a:r>
            <a:r>
              <a:rPr lang="en" sz="1500">
                <a:solidFill>
                  <a:schemeClr val="dk1"/>
                </a:solidFill>
              </a:rPr>
              <a:t>: Utilizes Entity Framework Cores to safely map to Leidos QTC’s existing SQL Server 2022 WFQ database.</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Zero-Schema Constraint</a:t>
            </a:r>
            <a:r>
              <a:rPr lang="en" sz="1500">
                <a:solidFill>
                  <a:schemeClr val="dk1"/>
                </a:solidFill>
              </a:rPr>
              <a:t>: Interfaces entirely with legacy tables (Workflow, Task, Item) and stored procedures without altering the underlying data structures.</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Security &amp; HIPAA Compliance</a:t>
            </a:r>
            <a:r>
              <a:rPr lang="en" sz="1500">
                <a:solidFill>
                  <a:schemeClr val="dk1"/>
                </a:solidFill>
              </a:rPr>
              <a:t>: Enforces query-string authorized access (?admin=true) via a custom AdminAuthorizationFilter, with all multi-step data mutations wrapped in atomic transactions.</a:t>
            </a:r>
            <a:endParaRPr sz="1500">
              <a:solidFill>
                <a:schemeClr val="dk1"/>
              </a:solidFill>
            </a:endParaRPr>
          </a:p>
        </p:txBody>
      </p:sp>
      <p:sp>
        <p:nvSpPr>
          <p:cNvPr id="134" name="Google Shape;134;p21"/>
          <p:cNvSpPr txBox="1"/>
          <p:nvPr/>
        </p:nvSpPr>
        <p:spPr>
          <a:xfrm>
            <a:off x="7505150" y="135275"/>
            <a:ext cx="13857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Haik</a:t>
            </a:r>
            <a:endParaRPr sz="1500">
              <a:solidFill>
                <a:schemeClr val="lt2"/>
              </a:solidFill>
              <a:latin typeface="Source Sans Pro"/>
              <a:ea typeface="Source Sans Pro"/>
              <a:cs typeface="Source Sans Pro"/>
              <a:sym typeface="Source Sans Pro"/>
            </a:endParaRPr>
          </a:p>
        </p:txBody>
      </p:sp>
      <p:pic>
        <p:nvPicPr>
          <p:cNvPr id="135" name="Google Shape;135;p21"/>
          <p:cNvPicPr preferRelativeResize="0"/>
          <p:nvPr/>
        </p:nvPicPr>
        <p:blipFill>
          <a:blip r:embed="rId3">
            <a:alphaModFix/>
          </a:blip>
          <a:stretch>
            <a:fillRect/>
          </a:stretch>
        </p:blipFill>
        <p:spPr>
          <a:xfrm>
            <a:off x="5503350" y="966225"/>
            <a:ext cx="3387500" cy="4065000"/>
          </a:xfrm>
          <a:prstGeom prst="rect">
            <a:avLst/>
          </a:prstGeom>
          <a:noFill/>
          <a:ln>
            <a:noFill/>
          </a:ln>
        </p:spPr>
      </p:pic>
      <p:pic>
        <p:nvPicPr>
          <p:cNvPr id="136" name="Google Shape;136;p21" title="ae03b84b-bb67-44cb-95d5-5a94c9f004af.png.jpg"/>
          <p:cNvPicPr preferRelativeResize="0"/>
          <p:nvPr/>
        </p:nvPicPr>
        <p:blipFill>
          <a:blip r:embed="rId4">
            <a:alphaModFix/>
          </a:blip>
          <a:stretch>
            <a:fillRect/>
          </a:stretch>
        </p:blipFill>
        <p:spPr>
          <a:xfrm>
            <a:off x="89149" y="4640850"/>
            <a:ext cx="860749" cy="414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Requirements Drove Our Design Decisions</a:t>
            </a:r>
            <a:endParaRPr/>
          </a:p>
        </p:txBody>
      </p:sp>
      <p:sp>
        <p:nvSpPr>
          <p:cNvPr id="142" name="Google Shape;142;p22"/>
          <p:cNvSpPr txBox="1"/>
          <p:nvPr>
            <p:ph idx="1" type="body"/>
          </p:nvPr>
        </p:nvSpPr>
        <p:spPr>
          <a:xfrm>
            <a:off x="311700" y="1191375"/>
            <a:ext cx="8436000" cy="3416400"/>
          </a:xfrm>
          <a:prstGeom prst="rect">
            <a:avLst/>
          </a:prstGeom>
        </p:spPr>
        <p:txBody>
          <a:bodyPr anchorCtr="0" anchor="t" bIns="91425" lIns="91425" spcFirstLastPara="1" rIns="91425" wrap="square" tIns="91425">
            <a:normAutofit fontScale="92500" lnSpcReduction="20000"/>
          </a:bodyPr>
          <a:lstStyle/>
          <a:p>
            <a:pPr indent="-310833" lvl="0" marL="457200" rtl="0" algn="l">
              <a:spcBef>
                <a:spcPts val="0"/>
              </a:spcBef>
              <a:spcAft>
                <a:spcPts val="0"/>
              </a:spcAft>
              <a:buClr>
                <a:schemeClr val="dk1"/>
              </a:buClr>
              <a:buSzPct val="100000"/>
              <a:buChar char="●"/>
            </a:pPr>
            <a:r>
              <a:rPr b="1" lang="en" sz="1400">
                <a:solidFill>
                  <a:schemeClr val="dk1"/>
                </a:solidFill>
              </a:rPr>
              <a:t>Authentication &amp; Authorization (SRS 4.1)</a:t>
            </a:r>
            <a:endParaRPr b="1" sz="1400">
              <a:solidFill>
                <a:schemeClr val="dk1"/>
              </a:solidFill>
            </a:endParaRPr>
          </a:p>
          <a:p>
            <a:pPr indent="0" lvl="0" marL="457200" rtl="0" algn="l">
              <a:spcBef>
                <a:spcPts val="0"/>
              </a:spcBef>
              <a:spcAft>
                <a:spcPts val="0"/>
              </a:spcAft>
              <a:buNone/>
            </a:pPr>
            <a:r>
              <a:rPr lang="en" sz="1400">
                <a:solidFill>
                  <a:schemeClr val="dk1"/>
                </a:solidFill>
              </a:rPr>
              <a:t>→ Enforced via admin-only access and server-side RBAC checks (SDD 6.4).</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310833" lvl="0" marL="457200" rtl="0" algn="l">
              <a:spcBef>
                <a:spcPts val="0"/>
              </a:spcBef>
              <a:spcAft>
                <a:spcPts val="0"/>
              </a:spcAft>
              <a:buClr>
                <a:schemeClr val="dk1"/>
              </a:buClr>
              <a:buSzPct val="100000"/>
              <a:buChar char="●"/>
            </a:pPr>
            <a:r>
              <a:rPr b="1" lang="en" sz="1400">
                <a:solidFill>
                  <a:schemeClr val="dk1"/>
                </a:solidFill>
              </a:rPr>
              <a:t>Compliance Requirements (HIPAA/HITECH)</a:t>
            </a:r>
            <a:endParaRPr b="1" sz="1400">
              <a:solidFill>
                <a:schemeClr val="dk1"/>
              </a:solidFill>
            </a:endParaRPr>
          </a:p>
          <a:p>
            <a:pPr indent="0" lvl="0" marL="457200" rtl="0" algn="l">
              <a:spcBef>
                <a:spcPts val="0"/>
              </a:spcBef>
              <a:spcAft>
                <a:spcPts val="0"/>
              </a:spcAft>
              <a:buNone/>
            </a:pPr>
            <a:r>
              <a:rPr lang="en" sz="1400">
                <a:solidFill>
                  <a:schemeClr val="dk1"/>
                </a:solidFill>
              </a:rPr>
              <a:t>→ Audit fields preserved, HTTPS/TLS required, and sensitive data protected (SRS 2.6; SDD 2.2).</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310833" lvl="0" marL="457200" rtl="0" algn="l">
              <a:spcBef>
                <a:spcPts val="0"/>
              </a:spcBef>
              <a:spcAft>
                <a:spcPts val="0"/>
              </a:spcAft>
              <a:buClr>
                <a:schemeClr val="dk1"/>
              </a:buClr>
              <a:buSzPct val="100000"/>
              <a:buChar char="●"/>
            </a:pPr>
            <a:r>
              <a:rPr b="1" lang="en" sz="1400">
                <a:solidFill>
                  <a:schemeClr val="dk1"/>
                </a:solidFill>
              </a:rPr>
              <a:t>Multi-Step Operation Safety</a:t>
            </a:r>
            <a:endParaRPr b="1" sz="1400">
              <a:solidFill>
                <a:schemeClr val="dk1"/>
              </a:solidFill>
            </a:endParaRPr>
          </a:p>
          <a:p>
            <a:pPr indent="0" lvl="0" marL="457200" rtl="0" algn="l">
              <a:spcBef>
                <a:spcPts val="0"/>
              </a:spcBef>
              <a:spcAft>
                <a:spcPts val="0"/>
              </a:spcAft>
              <a:buNone/>
            </a:pPr>
            <a:r>
              <a:rPr lang="en" sz="1400">
                <a:solidFill>
                  <a:schemeClr val="dk1"/>
                </a:solidFill>
              </a:rPr>
              <a:t>→ Complex operations (e.g., safe-delete) run inside transactions to avoid partial updates (SDD 7.2.4.5).</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310833" lvl="0" marL="457200" rtl="0" algn="l">
              <a:spcBef>
                <a:spcPts val="0"/>
              </a:spcBef>
              <a:spcAft>
                <a:spcPts val="0"/>
              </a:spcAft>
              <a:buClr>
                <a:schemeClr val="dk1"/>
              </a:buClr>
              <a:buSzPct val="100000"/>
              <a:buChar char="●"/>
            </a:pPr>
            <a:r>
              <a:rPr b="1" lang="en" sz="1400">
                <a:solidFill>
                  <a:schemeClr val="dk1"/>
                </a:solidFill>
              </a:rPr>
              <a:t>Security Requirements (SRS 5.3)</a:t>
            </a:r>
            <a:endParaRPr b="1" sz="1400">
              <a:solidFill>
                <a:schemeClr val="dk1"/>
              </a:solidFill>
            </a:endParaRPr>
          </a:p>
          <a:p>
            <a:pPr indent="0" lvl="0" marL="457200" rtl="0" algn="l">
              <a:spcBef>
                <a:spcPts val="0"/>
              </a:spcBef>
              <a:spcAft>
                <a:spcPts val="0"/>
              </a:spcAft>
              <a:buNone/>
            </a:pPr>
            <a:r>
              <a:rPr lang="en" sz="1400">
                <a:solidFill>
                  <a:schemeClr val="dk1"/>
                </a:solidFill>
              </a:rPr>
              <a:t>→ HTTPS enforced and authorization checked for every admin action (SRS 5.3; SDD 3.8, 6.4).</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310833" lvl="0" marL="457200" rtl="0" algn="l">
              <a:spcBef>
                <a:spcPts val="0"/>
              </a:spcBef>
              <a:spcAft>
                <a:spcPts val="0"/>
              </a:spcAft>
              <a:buClr>
                <a:schemeClr val="dk1"/>
              </a:buClr>
              <a:buSzPct val="100000"/>
              <a:buChar char="●"/>
            </a:pPr>
            <a:r>
              <a:rPr b="1" lang="en" sz="1400">
                <a:solidFill>
                  <a:schemeClr val="dk1"/>
                </a:solidFill>
              </a:rPr>
              <a:t>Workflow Rules (SRS 4.2 &amp; 4.3)</a:t>
            </a:r>
            <a:endParaRPr b="1" sz="1400">
              <a:solidFill>
                <a:schemeClr val="dk1"/>
              </a:solidFill>
            </a:endParaRPr>
          </a:p>
          <a:p>
            <a:pPr indent="0" lvl="0" marL="457200" rtl="0" algn="l">
              <a:spcBef>
                <a:spcPts val="0"/>
              </a:spcBef>
              <a:spcAft>
                <a:spcPts val="0"/>
              </a:spcAft>
              <a:buNone/>
            </a:pPr>
            <a:r>
              <a:rPr lang="en" sz="1400">
                <a:solidFill>
                  <a:schemeClr val="dk1"/>
                </a:solidFill>
              </a:rPr>
              <a:t>→ Deletion restrictions, dependency checks, and reassignment rules built into the service layer (SDD 7.2 &amp; 7.3).</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310833" lvl="0" marL="457200" rtl="0" algn="l">
              <a:spcBef>
                <a:spcPts val="0"/>
              </a:spcBef>
              <a:spcAft>
                <a:spcPts val="0"/>
              </a:spcAft>
              <a:buClr>
                <a:schemeClr val="dk1"/>
              </a:buClr>
              <a:buSzPct val="100000"/>
              <a:buChar char="●"/>
            </a:pPr>
            <a:r>
              <a:rPr b="1" lang="en" sz="1400">
                <a:solidFill>
                  <a:schemeClr val="dk1"/>
                </a:solidFill>
              </a:rPr>
              <a:t>Performance Awareness</a:t>
            </a:r>
            <a:endParaRPr b="1" sz="1400">
              <a:solidFill>
                <a:schemeClr val="dk1"/>
              </a:solidFill>
            </a:endParaRPr>
          </a:p>
          <a:p>
            <a:pPr indent="0" lvl="0" marL="457200" rtl="0" algn="l">
              <a:spcBef>
                <a:spcPts val="0"/>
              </a:spcBef>
              <a:spcAft>
                <a:spcPts val="0"/>
              </a:spcAft>
              <a:buNone/>
            </a:pPr>
            <a:r>
              <a:rPr lang="en" sz="1400">
                <a:solidFill>
                  <a:schemeClr val="dk1"/>
                </a:solidFill>
              </a:rPr>
              <a:t>→ Pagination and indexed queries help meet response-time expectations (SRS 5.1; SDD 3.10, 6.1.3).</a:t>
            </a:r>
            <a:endParaRPr sz="1400">
              <a:solidFill>
                <a:schemeClr val="dk1"/>
              </a:solidFill>
            </a:endParaRPr>
          </a:p>
        </p:txBody>
      </p:sp>
      <p:sp>
        <p:nvSpPr>
          <p:cNvPr id="143" name="Google Shape;143;p22"/>
          <p:cNvSpPr txBox="1"/>
          <p:nvPr/>
        </p:nvSpPr>
        <p:spPr>
          <a:xfrm>
            <a:off x="7553200" y="157350"/>
            <a:ext cx="13857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Dylan Huang</a:t>
            </a:r>
            <a:endParaRPr sz="1500">
              <a:solidFill>
                <a:schemeClr val="lt2"/>
              </a:solidFill>
              <a:latin typeface="Source Sans Pro"/>
              <a:ea typeface="Source Sans Pro"/>
              <a:cs typeface="Source Sans Pro"/>
              <a:sym typeface="Source Sans Pro"/>
            </a:endParaRPr>
          </a:p>
        </p:txBody>
      </p:sp>
      <p:pic>
        <p:nvPicPr>
          <p:cNvPr id="144" name="Google Shape;144;p22" title="ae03b84b-bb67-44cb-95d5-5a94c9f004af.png.jpg"/>
          <p:cNvPicPr preferRelativeResize="0"/>
          <p:nvPr/>
        </p:nvPicPr>
        <p:blipFill>
          <a:blip r:embed="rId3">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idx="1" type="body"/>
          </p:nvPr>
        </p:nvSpPr>
        <p:spPr>
          <a:xfrm>
            <a:off x="424200" y="1284700"/>
            <a:ext cx="5337900" cy="34479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Clr>
                <a:schemeClr val="dk1"/>
              </a:buClr>
              <a:buSzPct val="100000"/>
              <a:buChar char="●"/>
            </a:pPr>
            <a:r>
              <a:rPr lang="en">
                <a:solidFill>
                  <a:schemeClr val="dk1"/>
                </a:solidFill>
              </a:rPr>
              <a:t>SQL Server 2022 installed and configured</a:t>
            </a:r>
            <a:endParaRPr>
              <a:solidFill>
                <a:schemeClr val="dk1"/>
              </a:solidFill>
            </a:endParaRPr>
          </a:p>
          <a:p>
            <a:pPr indent="-310832" lvl="1" marL="914400" rtl="0" algn="l">
              <a:spcBef>
                <a:spcPts val="0"/>
              </a:spcBef>
              <a:spcAft>
                <a:spcPts val="0"/>
              </a:spcAft>
              <a:buClr>
                <a:schemeClr val="dk1"/>
              </a:buClr>
              <a:buSzPct val="127273"/>
              <a:buChar char="○"/>
            </a:pPr>
            <a:r>
              <a:rPr b="1" lang="en" sz="1100">
                <a:solidFill>
                  <a:schemeClr val="dk2"/>
                </a:solidFill>
                <a:latin typeface="Arial"/>
                <a:ea typeface="Arial"/>
                <a:cs typeface="Arial"/>
                <a:sym typeface="Arial"/>
              </a:rPr>
              <a:t>Configured the correct SQL services</a:t>
            </a:r>
            <a:br>
              <a:rPr b="1" lang="en" sz="1100">
                <a:solidFill>
                  <a:schemeClr val="dk2"/>
                </a:solidFill>
                <a:latin typeface="Arial"/>
                <a:ea typeface="Arial"/>
                <a:cs typeface="Arial"/>
                <a:sym typeface="Arial"/>
              </a:rPr>
            </a:br>
            <a:endParaRPr b="1" sz="1100">
              <a:solidFill>
                <a:schemeClr val="dk2"/>
              </a:solidFill>
              <a:latin typeface="Arial"/>
              <a:ea typeface="Arial"/>
              <a:cs typeface="Arial"/>
              <a:sym typeface="Arial"/>
            </a:endParaRPr>
          </a:p>
          <a:p>
            <a:pPr indent="-310832" lvl="1" marL="914400" rtl="0" algn="l">
              <a:spcBef>
                <a:spcPts val="0"/>
              </a:spcBef>
              <a:spcAft>
                <a:spcPts val="0"/>
              </a:spcAft>
              <a:buClr>
                <a:schemeClr val="dk1"/>
              </a:buClr>
              <a:buSzPct val="127273"/>
              <a:buChar char="○"/>
            </a:pPr>
            <a:r>
              <a:rPr b="1" lang="en" sz="1100">
                <a:solidFill>
                  <a:schemeClr val="dk2"/>
                </a:solidFill>
                <a:latin typeface="Arial"/>
                <a:ea typeface="Arial"/>
                <a:cs typeface="Arial"/>
                <a:sym typeface="Arial"/>
              </a:rPr>
              <a:t>SQL Server instance</a:t>
            </a:r>
            <a:br>
              <a:rPr b="1" lang="en" sz="1100">
                <a:solidFill>
                  <a:schemeClr val="dk2"/>
                </a:solidFill>
                <a:latin typeface="Arial"/>
                <a:ea typeface="Arial"/>
                <a:cs typeface="Arial"/>
                <a:sym typeface="Arial"/>
              </a:rPr>
            </a:br>
            <a:endParaRPr b="1" sz="1100">
              <a:solidFill>
                <a:schemeClr val="dk2"/>
              </a:solidFill>
              <a:latin typeface="Arial"/>
              <a:ea typeface="Arial"/>
              <a:cs typeface="Arial"/>
              <a:sym typeface="Arial"/>
            </a:endParaRPr>
          </a:p>
          <a:p>
            <a:pPr indent="-310832" lvl="1" marL="914400" rtl="0" algn="l">
              <a:spcBef>
                <a:spcPts val="0"/>
              </a:spcBef>
              <a:spcAft>
                <a:spcPts val="0"/>
              </a:spcAft>
              <a:buClr>
                <a:schemeClr val="dk1"/>
              </a:buClr>
              <a:buSzPct val="127273"/>
              <a:buChar char="○"/>
            </a:pPr>
            <a:r>
              <a:rPr b="1" lang="en" sz="1100">
                <a:solidFill>
                  <a:schemeClr val="dk2"/>
                </a:solidFill>
                <a:latin typeface="Arial"/>
                <a:ea typeface="Arial"/>
                <a:cs typeface="Arial"/>
                <a:sym typeface="Arial"/>
              </a:rPr>
              <a:t>Verified the database engine</a:t>
            </a:r>
            <a:br>
              <a:rPr lang="en">
                <a:solidFill>
                  <a:schemeClr val="dk1"/>
                </a:solidFill>
              </a:rPr>
            </a:b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SSMS fully configured</a:t>
            </a:r>
            <a:br>
              <a:rPr lang="en">
                <a:solidFill>
                  <a:schemeClr val="dk1"/>
                </a:solidFill>
              </a:rPr>
            </a:b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QTC-provided database connected</a:t>
            </a:r>
            <a:br>
              <a:rPr lang="en">
                <a:solidFill>
                  <a:schemeClr val="dk1"/>
                </a:solidFill>
              </a:rPr>
            </a:br>
            <a:endParaRPr>
              <a:solidFill>
                <a:schemeClr val="dk1"/>
              </a:solidFill>
            </a:endParaRPr>
          </a:p>
          <a:p>
            <a:pPr indent="-334328" lvl="0" marL="457200" rtl="0" algn="l">
              <a:spcBef>
                <a:spcPts val="0"/>
              </a:spcBef>
              <a:spcAft>
                <a:spcPts val="0"/>
              </a:spcAft>
              <a:buClr>
                <a:schemeClr val="dk1"/>
              </a:buClr>
              <a:buSzPct val="100000"/>
              <a:buChar char="●"/>
            </a:pPr>
            <a:r>
              <a:rPr lang="en">
                <a:solidFill>
                  <a:schemeClr val="dk1"/>
                </a:solidFill>
              </a:rPr>
              <a:t>IIS enabled with ASP.NET Core 8 MVC, Entity Framework Core (EF Core), and Bootstrap 5 / HTML5.</a:t>
            </a:r>
            <a:br>
              <a:rPr lang="en">
                <a:solidFill>
                  <a:schemeClr val="dk1"/>
                </a:solidFill>
              </a:rPr>
            </a:br>
            <a:endParaRPr>
              <a:solidFill>
                <a:schemeClr val="dk1"/>
              </a:solidFill>
            </a:endParaRPr>
          </a:p>
        </p:txBody>
      </p:sp>
      <p:pic>
        <p:nvPicPr>
          <p:cNvPr id="150" name="Google Shape;150;p23"/>
          <p:cNvPicPr preferRelativeResize="0"/>
          <p:nvPr/>
        </p:nvPicPr>
        <p:blipFill>
          <a:blip r:embed="rId3">
            <a:alphaModFix/>
          </a:blip>
          <a:stretch>
            <a:fillRect/>
          </a:stretch>
        </p:blipFill>
        <p:spPr>
          <a:xfrm>
            <a:off x="6433350" y="878375"/>
            <a:ext cx="2552700" cy="1790700"/>
          </a:xfrm>
          <a:prstGeom prst="rect">
            <a:avLst/>
          </a:prstGeom>
          <a:noFill/>
          <a:ln>
            <a:noFill/>
          </a:ln>
        </p:spPr>
      </p:pic>
      <p:pic>
        <p:nvPicPr>
          <p:cNvPr id="151" name="Google Shape;151;p23"/>
          <p:cNvPicPr preferRelativeResize="0"/>
          <p:nvPr/>
        </p:nvPicPr>
        <p:blipFill>
          <a:blip r:embed="rId4">
            <a:alphaModFix/>
          </a:blip>
          <a:stretch>
            <a:fillRect/>
          </a:stretch>
        </p:blipFill>
        <p:spPr>
          <a:xfrm>
            <a:off x="5916663" y="2669063"/>
            <a:ext cx="2143125" cy="2143125"/>
          </a:xfrm>
          <a:prstGeom prst="rect">
            <a:avLst/>
          </a:prstGeom>
          <a:noFill/>
          <a:ln>
            <a:noFill/>
          </a:ln>
        </p:spPr>
      </p:pic>
      <p:sp>
        <p:nvSpPr>
          <p:cNvPr id="152" name="Google Shape;152;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Technical Environment Setup</a:t>
            </a:r>
            <a:endParaRPr/>
          </a:p>
        </p:txBody>
      </p:sp>
      <p:sp>
        <p:nvSpPr>
          <p:cNvPr id="153" name="Google Shape;153;p23"/>
          <p:cNvSpPr txBox="1"/>
          <p:nvPr/>
        </p:nvSpPr>
        <p:spPr>
          <a:xfrm>
            <a:off x="7553200" y="157350"/>
            <a:ext cx="13857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Haik</a:t>
            </a:r>
            <a:endParaRPr sz="1500">
              <a:solidFill>
                <a:schemeClr val="lt2"/>
              </a:solidFill>
              <a:latin typeface="Source Sans Pro"/>
              <a:ea typeface="Source Sans Pro"/>
              <a:cs typeface="Source Sans Pro"/>
              <a:sym typeface="Source Sans Pro"/>
            </a:endParaRPr>
          </a:p>
        </p:txBody>
      </p:sp>
      <p:pic>
        <p:nvPicPr>
          <p:cNvPr id="154" name="Google Shape;154;p23" title="ae03b84b-bb67-44cb-95d5-5a94c9f004af.png.jpg"/>
          <p:cNvPicPr preferRelativeResize="0"/>
          <p:nvPr/>
        </p:nvPicPr>
        <p:blipFill>
          <a:blip r:embed="rId5">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11700" y="157000"/>
            <a:ext cx="8520600" cy="679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Database Architecture</a:t>
            </a:r>
            <a:endParaRPr/>
          </a:p>
        </p:txBody>
      </p:sp>
      <p:sp>
        <p:nvSpPr>
          <p:cNvPr id="160" name="Google Shape;160;p24"/>
          <p:cNvSpPr txBox="1"/>
          <p:nvPr>
            <p:ph idx="1" type="body"/>
          </p:nvPr>
        </p:nvSpPr>
        <p:spPr>
          <a:xfrm>
            <a:off x="311700" y="836500"/>
            <a:ext cx="8520600" cy="39720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Clr>
                <a:schemeClr val="dk1"/>
              </a:buClr>
              <a:buSzPct val="100000"/>
              <a:buChar char="●"/>
            </a:pPr>
            <a:r>
              <a:rPr lang="en">
                <a:solidFill>
                  <a:schemeClr val="dk1"/>
                </a:solidFill>
              </a:rPr>
              <a:t>QTC provided their existing WFQ SQL Server database structure. </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No schema changes are made; the new UI strictly uses the existing tables and stored procedures defined in the WFQ system.</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All data operations follow QTC’s established workflow rules and stored procedure logic.</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Core Tables used: </a:t>
            </a:r>
            <a:endParaRPr>
              <a:solidFill>
                <a:schemeClr val="dk1"/>
              </a:solidFill>
            </a:endParaRPr>
          </a:p>
          <a:p>
            <a:pPr indent="0" lvl="0" marL="457200" rtl="0" algn="l">
              <a:spcBef>
                <a:spcPts val="1200"/>
              </a:spcBef>
              <a:spcAft>
                <a:spcPts val="0"/>
              </a:spcAft>
              <a:buNone/>
            </a:pPr>
            <a:r>
              <a:rPr lang="en">
                <a:solidFill>
                  <a:schemeClr val="dk1"/>
                </a:solidFill>
              </a:rPr>
              <a:t>-  </a:t>
            </a:r>
            <a:r>
              <a:rPr lang="en">
                <a:solidFill>
                  <a:schemeClr val="dk1"/>
                </a:solidFill>
              </a:rPr>
              <a:t>Workflow: Defines each workflow</a:t>
            </a:r>
            <a:endParaRPr>
              <a:solidFill>
                <a:schemeClr val="dk1"/>
              </a:solidFill>
            </a:endParaRPr>
          </a:p>
          <a:p>
            <a:pPr indent="0" lvl="0" marL="457200" rtl="0" algn="l">
              <a:spcBef>
                <a:spcPts val="1200"/>
              </a:spcBef>
              <a:spcAft>
                <a:spcPts val="0"/>
              </a:spcAft>
              <a:buNone/>
            </a:pPr>
            <a:r>
              <a:rPr lang="en">
                <a:solidFill>
                  <a:schemeClr val="dk1"/>
                </a:solidFill>
              </a:rPr>
              <a:t>- WorkflowStep: Ordered steps within a workflow</a:t>
            </a:r>
            <a:endParaRPr>
              <a:solidFill>
                <a:schemeClr val="dk1"/>
              </a:solidFill>
            </a:endParaRPr>
          </a:p>
          <a:p>
            <a:pPr indent="0" lvl="0" marL="457200" rtl="0" algn="l">
              <a:spcBef>
                <a:spcPts val="1200"/>
              </a:spcBef>
              <a:spcAft>
                <a:spcPts val="0"/>
              </a:spcAft>
              <a:buNone/>
            </a:pPr>
            <a:r>
              <a:rPr lang="en">
                <a:solidFill>
                  <a:schemeClr val="dk1"/>
                </a:solidFill>
              </a:rPr>
              <a:t>- Task: Tasks generated for each step of the workflow</a:t>
            </a:r>
            <a:endParaRPr>
              <a:solidFill>
                <a:schemeClr val="dk1"/>
              </a:solidFill>
            </a:endParaRPr>
          </a:p>
          <a:p>
            <a:pPr indent="0" lvl="0" marL="457200" rtl="0" algn="l">
              <a:spcBef>
                <a:spcPts val="1200"/>
              </a:spcBef>
              <a:spcAft>
                <a:spcPts val="0"/>
              </a:spcAft>
              <a:buNone/>
            </a:pPr>
            <a:r>
              <a:rPr lang="en">
                <a:solidFill>
                  <a:schemeClr val="dk1"/>
                </a:solidFill>
              </a:rPr>
              <a:t>-  Item: The object being processed (main business record)</a:t>
            </a:r>
            <a:endParaRPr>
              <a:solidFill>
                <a:schemeClr val="dk1"/>
              </a:solidFill>
            </a:endParaRPr>
          </a:p>
          <a:p>
            <a:pPr indent="0" lvl="0" marL="457200" rtl="0" algn="l">
              <a:spcBef>
                <a:spcPts val="1200"/>
              </a:spcBef>
              <a:spcAft>
                <a:spcPts val="0"/>
              </a:spcAft>
              <a:buNone/>
            </a:pPr>
            <a:r>
              <a:rPr lang="en">
                <a:solidFill>
                  <a:schemeClr val="dk1"/>
                </a:solidFill>
              </a:rPr>
              <a:t>-  Status/ItemStatus: Standardized workflow and task statuses </a:t>
            </a:r>
            <a:endParaRPr>
              <a:solidFill>
                <a:schemeClr val="dk1"/>
              </a:solidFill>
            </a:endParaRPr>
          </a:p>
          <a:p>
            <a:pPr indent="0" lvl="0" marL="457200" rtl="0" algn="l">
              <a:spcBef>
                <a:spcPts val="1200"/>
              </a:spcBef>
              <a:spcAft>
                <a:spcPts val="0"/>
              </a:spcAft>
              <a:buNone/>
            </a:pPr>
            <a:r>
              <a:rPr lang="en">
                <a:solidFill>
                  <a:schemeClr val="dk1"/>
                </a:solidFill>
              </a:rPr>
              <a:t>- InfoKey/ItemKeyValue: Key-value metadata for dynamic item properties  </a:t>
            </a:r>
            <a:endParaRPr>
              <a:solidFill>
                <a:schemeClr val="dk1"/>
              </a:solidFill>
            </a:endParaRPr>
          </a:p>
          <a:p>
            <a:pPr indent="-317183" lvl="0" marL="457200" rtl="0" algn="l">
              <a:spcBef>
                <a:spcPts val="1200"/>
              </a:spcBef>
              <a:spcAft>
                <a:spcPts val="0"/>
              </a:spcAft>
              <a:buClr>
                <a:schemeClr val="dk1"/>
              </a:buClr>
              <a:buSzPct val="100000"/>
              <a:buChar char="●"/>
            </a:pPr>
            <a:r>
              <a:rPr lang="en">
                <a:solidFill>
                  <a:schemeClr val="dk1"/>
                </a:solidFill>
              </a:rPr>
              <a:t>All admin operations use transactions for data integrity.</a:t>
            </a: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The Admin UI only becomes active when launched with a flagged Admin route, ensuring restricted access.</a:t>
            </a:r>
            <a:endParaRPr>
              <a:solidFill>
                <a:schemeClr val="dk1"/>
              </a:solidFill>
            </a:endParaRPr>
          </a:p>
        </p:txBody>
      </p:sp>
      <p:sp>
        <p:nvSpPr>
          <p:cNvPr id="161" name="Google Shape;161;p24"/>
          <p:cNvSpPr txBox="1"/>
          <p:nvPr/>
        </p:nvSpPr>
        <p:spPr>
          <a:xfrm>
            <a:off x="7447500" y="169100"/>
            <a:ext cx="14913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latin typeface="Source Sans Pro"/>
                <a:ea typeface="Source Sans Pro"/>
                <a:cs typeface="Source Sans Pro"/>
                <a:sym typeface="Source Sans Pro"/>
              </a:rPr>
              <a:t>Samuel Acevedo</a:t>
            </a:r>
            <a:endParaRPr>
              <a:solidFill>
                <a:schemeClr val="lt2"/>
              </a:solidFill>
              <a:latin typeface="Source Sans Pro"/>
              <a:ea typeface="Source Sans Pro"/>
              <a:cs typeface="Source Sans Pro"/>
              <a:sym typeface="Source Sans Pro"/>
            </a:endParaRPr>
          </a:p>
        </p:txBody>
      </p:sp>
      <p:pic>
        <p:nvPicPr>
          <p:cNvPr id="162" name="Google Shape;162;p24"/>
          <p:cNvPicPr preferRelativeResize="0"/>
          <p:nvPr/>
        </p:nvPicPr>
        <p:blipFill>
          <a:blip r:embed="rId3">
            <a:alphaModFix/>
          </a:blip>
          <a:stretch>
            <a:fillRect/>
          </a:stretch>
        </p:blipFill>
        <p:spPr>
          <a:xfrm>
            <a:off x="6190975" y="1751438"/>
            <a:ext cx="2830075" cy="2142125"/>
          </a:xfrm>
          <a:prstGeom prst="rect">
            <a:avLst/>
          </a:prstGeom>
          <a:noFill/>
          <a:ln>
            <a:noFill/>
          </a:ln>
        </p:spPr>
      </p:pic>
      <p:pic>
        <p:nvPicPr>
          <p:cNvPr id="163" name="Google Shape;163;p24"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11700" y="445025"/>
            <a:ext cx="3804000" cy="1512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System Context Diagram</a:t>
            </a:r>
            <a:endParaRPr/>
          </a:p>
        </p:txBody>
      </p:sp>
      <p:sp>
        <p:nvSpPr>
          <p:cNvPr id="169" name="Google Shape;169;p25"/>
          <p:cNvSpPr txBox="1"/>
          <p:nvPr>
            <p:ph idx="1" type="body"/>
          </p:nvPr>
        </p:nvSpPr>
        <p:spPr>
          <a:xfrm>
            <a:off x="311700" y="1645600"/>
            <a:ext cx="3804000" cy="29805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2"/>
              </a:buClr>
              <a:buSzPts val="1100"/>
              <a:buFont typeface="Arial"/>
              <a:buNone/>
            </a:pPr>
            <a:r>
              <a:rPr lang="en" sz="1400">
                <a:solidFill>
                  <a:schemeClr val="dk1"/>
                </a:solidFill>
                <a:latin typeface="Arial"/>
                <a:ea typeface="Arial"/>
                <a:cs typeface="Arial"/>
                <a:sym typeface="Arial"/>
              </a:rPr>
              <a:t>The System Context Diagram shows how the WFQ Administrator Application fits into the larger environment.</a:t>
            </a:r>
            <a:endParaRPr sz="1400">
              <a:solidFill>
                <a:schemeClr val="dk1"/>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en" sz="1400">
                <a:solidFill>
                  <a:schemeClr val="dk1"/>
                </a:solidFill>
                <a:latin typeface="Arial"/>
                <a:ea typeface="Arial"/>
                <a:cs typeface="Arial"/>
                <a:sym typeface="Arial"/>
              </a:rPr>
              <a:t>It identifies who uses the system, what information they send to it, what information the system returns, and what external systems or databases it interacts with.</a:t>
            </a:r>
            <a:endParaRPr sz="1400">
              <a:solidFill>
                <a:schemeClr val="dk1"/>
              </a:solidFill>
              <a:latin typeface="Arial"/>
              <a:ea typeface="Arial"/>
              <a:cs typeface="Arial"/>
              <a:sym typeface="Arial"/>
            </a:endParaRPr>
          </a:p>
          <a:p>
            <a:pPr indent="0" lvl="0" marL="0" rtl="0" algn="l">
              <a:spcBef>
                <a:spcPts val="1200"/>
              </a:spcBef>
              <a:spcAft>
                <a:spcPts val="1200"/>
              </a:spcAft>
              <a:buClr>
                <a:schemeClr val="dk2"/>
              </a:buClr>
              <a:buSzPts val="1100"/>
              <a:buFont typeface="Arial"/>
              <a:buNone/>
            </a:pPr>
            <a:r>
              <a:rPr lang="en" sz="1400">
                <a:solidFill>
                  <a:schemeClr val="dk1"/>
                </a:solidFill>
                <a:latin typeface="Arial"/>
                <a:ea typeface="Arial"/>
                <a:cs typeface="Arial"/>
                <a:sym typeface="Arial"/>
              </a:rPr>
              <a:t>It provides a simple, high-level view of the system so anyone can understand the major connections and data flows without needing technical knowledge.</a:t>
            </a:r>
            <a:endParaRPr sz="1400">
              <a:solidFill>
                <a:schemeClr val="dk1"/>
              </a:solidFill>
              <a:latin typeface="Arial"/>
              <a:ea typeface="Arial"/>
              <a:cs typeface="Arial"/>
              <a:sym typeface="Arial"/>
            </a:endParaRPr>
          </a:p>
        </p:txBody>
      </p:sp>
      <p:pic>
        <p:nvPicPr>
          <p:cNvPr id="170" name="Google Shape;170;p25"/>
          <p:cNvPicPr preferRelativeResize="0"/>
          <p:nvPr/>
        </p:nvPicPr>
        <p:blipFill>
          <a:blip r:embed="rId3">
            <a:alphaModFix/>
          </a:blip>
          <a:stretch>
            <a:fillRect/>
          </a:stretch>
        </p:blipFill>
        <p:spPr>
          <a:xfrm>
            <a:off x="4190300" y="114300"/>
            <a:ext cx="4095750" cy="4914900"/>
          </a:xfrm>
          <a:prstGeom prst="rect">
            <a:avLst/>
          </a:prstGeom>
          <a:noFill/>
          <a:ln>
            <a:noFill/>
          </a:ln>
        </p:spPr>
      </p:pic>
      <p:sp>
        <p:nvSpPr>
          <p:cNvPr id="171" name="Google Shape;171;p25"/>
          <p:cNvSpPr txBox="1"/>
          <p:nvPr/>
        </p:nvSpPr>
        <p:spPr>
          <a:xfrm>
            <a:off x="8057125" y="114300"/>
            <a:ext cx="1382100" cy="4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Source Sans Pro"/>
                <a:ea typeface="Source Sans Pro"/>
                <a:cs typeface="Source Sans Pro"/>
                <a:sym typeface="Source Sans Pro"/>
              </a:rPr>
              <a:t>Ruben Flores</a:t>
            </a:r>
            <a:endParaRPr sz="600">
              <a:solidFill>
                <a:schemeClr val="lt2"/>
              </a:solidFill>
              <a:latin typeface="Source Sans Pro"/>
              <a:ea typeface="Source Sans Pro"/>
              <a:cs typeface="Source Sans Pro"/>
              <a:sym typeface="Source Sans Pro"/>
            </a:endParaRPr>
          </a:p>
        </p:txBody>
      </p:sp>
      <p:pic>
        <p:nvPicPr>
          <p:cNvPr id="172" name="Google Shape;172;p25"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How Our System Is Structured</a:t>
            </a:r>
            <a:endParaRPr/>
          </a:p>
        </p:txBody>
      </p:sp>
      <p:sp>
        <p:nvSpPr>
          <p:cNvPr id="178" name="Google Shape;178;p26"/>
          <p:cNvSpPr txBox="1"/>
          <p:nvPr>
            <p:ph idx="1" type="body"/>
          </p:nvPr>
        </p:nvSpPr>
        <p:spPr>
          <a:xfrm>
            <a:off x="311700" y="1068425"/>
            <a:ext cx="8520600" cy="3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Admin Website (UI):</a:t>
            </a:r>
            <a:r>
              <a:rPr lang="en">
                <a:solidFill>
                  <a:schemeClr val="dk1"/>
                </a:solidFill>
              </a:rPr>
              <a:t> </a:t>
            </a:r>
            <a:r>
              <a:rPr lang="en">
                <a:solidFill>
                  <a:schemeClr val="dk1"/>
                </a:solidFill>
              </a:rPr>
              <a:t>What the QTC admin sees: pages, tables, buttons, forms</a:t>
            </a:r>
            <a:endParaRPr>
              <a:solidFill>
                <a:schemeClr val="dk1"/>
              </a:solidFill>
            </a:endParaRPr>
          </a:p>
          <a:p>
            <a:pPr indent="0" lvl="0" marL="0" rtl="0" algn="l">
              <a:spcBef>
                <a:spcPts val="1200"/>
              </a:spcBef>
              <a:spcAft>
                <a:spcPts val="0"/>
              </a:spcAft>
              <a:buNone/>
            </a:pPr>
            <a:r>
              <a:rPr b="1" lang="en">
                <a:solidFill>
                  <a:schemeClr val="dk1"/>
                </a:solidFill>
              </a:rPr>
              <a:t>Rules &amp; Decisions (Logic Layer):</a:t>
            </a:r>
            <a:endParaRPr b="1">
              <a:solidFill>
                <a:schemeClr val="dk1"/>
              </a:solidFill>
            </a:endParaRPr>
          </a:p>
          <a:p>
            <a:pPr indent="457200" lvl="0" marL="0" rtl="0" algn="l">
              <a:spcBef>
                <a:spcPts val="1200"/>
              </a:spcBef>
              <a:spcAft>
                <a:spcPts val="0"/>
              </a:spcAft>
              <a:buNone/>
            </a:pPr>
            <a:r>
              <a:rPr lang="en">
                <a:solidFill>
                  <a:schemeClr val="dk1"/>
                </a:solidFill>
              </a:rPr>
              <a:t>Decides what’s allowed: </a:t>
            </a:r>
            <a:endParaRPr>
              <a:solidFill>
                <a:schemeClr val="dk1"/>
              </a:solidFill>
            </a:endParaRPr>
          </a:p>
          <a:p>
            <a:pPr indent="457200" lvl="0" marL="457200" rtl="0" algn="l">
              <a:spcBef>
                <a:spcPts val="1200"/>
              </a:spcBef>
              <a:spcAft>
                <a:spcPts val="0"/>
              </a:spcAft>
              <a:buNone/>
            </a:pPr>
            <a:r>
              <a:rPr lang="en">
                <a:solidFill>
                  <a:schemeClr val="dk1"/>
                </a:solidFill>
              </a:rPr>
              <a:t>“Is this user an admin?”</a:t>
            </a:r>
            <a:endParaRPr>
              <a:solidFill>
                <a:schemeClr val="dk1"/>
              </a:solidFill>
            </a:endParaRPr>
          </a:p>
          <a:p>
            <a:pPr indent="457200" lvl="0" marL="457200" rtl="0" algn="l">
              <a:spcBef>
                <a:spcPts val="1200"/>
              </a:spcBef>
              <a:spcAft>
                <a:spcPts val="0"/>
              </a:spcAft>
              <a:buNone/>
            </a:pPr>
            <a:r>
              <a:rPr lang="en">
                <a:solidFill>
                  <a:schemeClr val="dk1"/>
                </a:solidFill>
              </a:rPr>
              <a:t>“Can this step be deleted?”</a:t>
            </a:r>
            <a:endParaRPr>
              <a:solidFill>
                <a:schemeClr val="dk1"/>
              </a:solidFill>
            </a:endParaRPr>
          </a:p>
          <a:p>
            <a:pPr indent="457200" lvl="0" marL="457200" rtl="0" algn="l">
              <a:spcBef>
                <a:spcPts val="1200"/>
              </a:spcBef>
              <a:spcAft>
                <a:spcPts val="0"/>
              </a:spcAft>
              <a:buNone/>
            </a:pPr>
            <a:r>
              <a:rPr lang="en">
                <a:solidFill>
                  <a:schemeClr val="dk1"/>
                </a:solidFill>
              </a:rPr>
              <a:t>“Where should tasks go next?”</a:t>
            </a:r>
            <a:endParaRPr>
              <a:solidFill>
                <a:schemeClr val="dk1"/>
              </a:solidFill>
            </a:endParaRPr>
          </a:p>
          <a:p>
            <a:pPr indent="0" lvl="0" marL="0" rtl="0" algn="l">
              <a:spcBef>
                <a:spcPts val="1200"/>
              </a:spcBef>
              <a:spcAft>
                <a:spcPts val="1200"/>
              </a:spcAft>
              <a:buNone/>
            </a:pPr>
            <a:r>
              <a:rPr b="1" lang="en">
                <a:solidFill>
                  <a:schemeClr val="dk1"/>
                </a:solidFill>
              </a:rPr>
              <a:t>Database Access:</a:t>
            </a:r>
            <a:r>
              <a:rPr lang="en">
                <a:solidFill>
                  <a:schemeClr val="dk1"/>
                </a:solidFill>
              </a:rPr>
              <a:t> Layer Safely reads and writes the existing WFQ database, without changing its structure.</a:t>
            </a:r>
            <a:endParaRPr>
              <a:solidFill>
                <a:schemeClr val="dk1"/>
              </a:solidFill>
            </a:endParaRPr>
          </a:p>
        </p:txBody>
      </p:sp>
      <p:sp>
        <p:nvSpPr>
          <p:cNvPr id="179" name="Google Shape;179;p26"/>
          <p:cNvSpPr txBox="1"/>
          <p:nvPr/>
        </p:nvSpPr>
        <p:spPr>
          <a:xfrm>
            <a:off x="6974050" y="216075"/>
            <a:ext cx="18582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Laila Velasquez</a:t>
            </a:r>
            <a:endParaRPr sz="1800">
              <a:solidFill>
                <a:schemeClr val="lt2"/>
              </a:solidFill>
              <a:latin typeface="Source Sans Pro"/>
              <a:ea typeface="Source Sans Pro"/>
              <a:cs typeface="Source Sans Pro"/>
              <a:sym typeface="Source Sans Pro"/>
            </a:endParaRPr>
          </a:p>
        </p:txBody>
      </p:sp>
      <p:pic>
        <p:nvPicPr>
          <p:cNvPr descr="C:\Users\redelbi\AppData\Local\Microsoft\Windows\INetCache\Content.Word\LQTCHS-Logo.png" id="180" name="Google Shape;180;p26"/>
          <p:cNvPicPr preferRelativeResize="0"/>
          <p:nvPr/>
        </p:nvPicPr>
        <p:blipFill>
          <a:blip r:embed="rId3">
            <a:alphaModFix/>
          </a:blip>
          <a:stretch>
            <a:fillRect/>
          </a:stretch>
        </p:blipFill>
        <p:spPr>
          <a:xfrm>
            <a:off x="7413822" y="4314677"/>
            <a:ext cx="1418478" cy="679500"/>
          </a:xfrm>
          <a:prstGeom prst="rect">
            <a:avLst/>
          </a:prstGeom>
          <a:noFill/>
          <a:ln>
            <a:noFill/>
          </a:ln>
        </p:spPr>
      </p:pic>
      <p:pic>
        <p:nvPicPr>
          <p:cNvPr id="181" name="Google Shape;181;p26"/>
          <p:cNvPicPr preferRelativeResize="0"/>
          <p:nvPr/>
        </p:nvPicPr>
        <p:blipFill>
          <a:blip r:embed="rId4">
            <a:alphaModFix/>
          </a:blip>
          <a:stretch>
            <a:fillRect/>
          </a:stretch>
        </p:blipFill>
        <p:spPr>
          <a:xfrm>
            <a:off x="6478814" y="1500201"/>
            <a:ext cx="2353438" cy="23534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Story - Admin Manager                               </a:t>
            </a:r>
            <a:r>
              <a:rPr lang="en" sz="1300"/>
              <a:t>Zhen Zhao</a:t>
            </a:r>
            <a:r>
              <a:rPr lang="en"/>
              <a:t>                                                                   </a:t>
            </a:r>
            <a:endParaRPr/>
          </a:p>
        </p:txBody>
      </p:sp>
      <p:sp>
        <p:nvSpPr>
          <p:cNvPr id="187" name="Google Shape;187;p27"/>
          <p:cNvSpPr txBox="1"/>
          <p:nvPr>
            <p:ph idx="1" type="body"/>
          </p:nvPr>
        </p:nvSpPr>
        <p:spPr>
          <a:xfrm>
            <a:off x="311700" y="968200"/>
            <a:ext cx="8520600" cy="39723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solidFill>
                  <a:schemeClr val="dk1"/>
                </a:solidFill>
              </a:rPr>
              <a:t>As an Admin Manager I want the UI to be easy to access and easy to understand so that i can quickly teach new admins how to </a:t>
            </a:r>
            <a:r>
              <a:rPr lang="en">
                <a:solidFill>
                  <a:schemeClr val="dk1"/>
                </a:solidFill>
              </a:rPr>
              <a:t>quickly create and edit workflows</a:t>
            </a:r>
            <a:r>
              <a:rPr lang="en">
                <a:solidFill>
                  <a:schemeClr val="dk1"/>
                </a:solidFill>
              </a:rPr>
              <a:t>  </a:t>
            </a:r>
            <a:endParaRPr>
              <a:solidFill>
                <a:schemeClr val="dk1"/>
              </a:solidFill>
            </a:endParaRPr>
          </a:p>
          <a:p>
            <a:pPr indent="0" lvl="0" marL="0" rtl="0" algn="l">
              <a:spcBef>
                <a:spcPts val="1200"/>
              </a:spcBef>
              <a:spcAft>
                <a:spcPts val="0"/>
              </a:spcAft>
              <a:buNone/>
            </a:pPr>
            <a:r>
              <a:rPr lang="en">
                <a:solidFill>
                  <a:schemeClr val="dk1"/>
                </a:solidFill>
              </a:rPr>
              <a:t>Acceptance Criteria:</a:t>
            </a:r>
            <a:endParaRPr>
              <a:solidFill>
                <a:schemeClr val="dk1"/>
              </a:solidFill>
            </a:endParaRPr>
          </a:p>
          <a:p>
            <a:pPr indent="0" lvl="0" marL="0" rtl="0" algn="l">
              <a:spcBef>
                <a:spcPts val="1200"/>
              </a:spcBef>
              <a:spcAft>
                <a:spcPts val="0"/>
              </a:spcAft>
              <a:buNone/>
            </a:pPr>
            <a:r>
              <a:rPr lang="en">
                <a:solidFill>
                  <a:schemeClr val="dk1"/>
                </a:solidFill>
              </a:rPr>
              <a:t>UI Labels And Buttons should use simple non-technical language that is easy to understand and explain</a:t>
            </a:r>
            <a:endParaRPr>
              <a:solidFill>
                <a:schemeClr val="dk1"/>
              </a:solidFill>
            </a:endParaRPr>
          </a:p>
          <a:p>
            <a:pPr indent="0" lvl="0" marL="0" rtl="0" algn="l">
              <a:spcBef>
                <a:spcPts val="1200"/>
              </a:spcBef>
              <a:spcAft>
                <a:spcPts val="0"/>
              </a:spcAft>
              <a:buNone/>
            </a:pPr>
            <a:r>
              <a:rPr lang="en">
                <a:solidFill>
                  <a:schemeClr val="dk1"/>
                </a:solidFill>
              </a:rPr>
              <a:t>When a workflow is created on the UI it shows the date and time  it was created</a:t>
            </a:r>
            <a:endParaRPr>
              <a:solidFill>
                <a:schemeClr val="dk1"/>
              </a:solidFill>
            </a:endParaRPr>
          </a:p>
          <a:p>
            <a:pPr indent="0" lvl="0" marL="0" rtl="0" algn="l">
              <a:spcBef>
                <a:spcPts val="1200"/>
              </a:spcBef>
              <a:spcAft>
                <a:spcPts val="0"/>
              </a:spcAft>
              <a:buNone/>
            </a:pPr>
            <a:r>
              <a:rPr lang="en">
                <a:solidFill>
                  <a:schemeClr val="dk1"/>
                </a:solidFill>
              </a:rPr>
              <a:t>In order to access workflows admins must login with a username and password</a:t>
            </a:r>
            <a:endParaRPr>
              <a:solidFill>
                <a:schemeClr val="dk1"/>
              </a:solidFill>
            </a:endParaRPr>
          </a:p>
          <a:p>
            <a:pPr indent="0" lvl="0" marL="0" rtl="0" algn="l">
              <a:spcBef>
                <a:spcPts val="1200"/>
              </a:spcBef>
              <a:spcAft>
                <a:spcPts val="0"/>
              </a:spcAft>
              <a:buNone/>
            </a:pPr>
            <a:r>
              <a:rPr lang="en">
                <a:solidFill>
                  <a:schemeClr val="dk1"/>
                </a:solidFill>
              </a:rPr>
              <a:t>A edit feature so if a admin makes a mistake on a workflow it can be corrected</a:t>
            </a:r>
            <a:endParaRPr>
              <a:solidFill>
                <a:schemeClr val="dk1"/>
              </a:solidFill>
            </a:endParaRPr>
          </a:p>
          <a:p>
            <a:pPr indent="0" lvl="0" marL="0" rtl="0" algn="l">
              <a:spcBef>
                <a:spcPts val="1200"/>
              </a:spcBef>
              <a:spcAft>
                <a:spcPts val="0"/>
              </a:spcAft>
              <a:buNone/>
            </a:pPr>
            <a:r>
              <a:rPr lang="en">
                <a:solidFill>
                  <a:schemeClr val="dk1"/>
                </a:solidFill>
              </a:rPr>
              <a:t>Technical Tasks:</a:t>
            </a:r>
            <a:endParaRPr>
              <a:solidFill>
                <a:schemeClr val="dk1"/>
              </a:solidFill>
            </a:endParaRPr>
          </a:p>
          <a:p>
            <a:pPr indent="0" lvl="0" marL="0" rtl="0" algn="l">
              <a:spcBef>
                <a:spcPts val="1200"/>
              </a:spcBef>
              <a:spcAft>
                <a:spcPts val="0"/>
              </a:spcAft>
              <a:buNone/>
            </a:pPr>
            <a:r>
              <a:rPr lang="en">
                <a:solidFill>
                  <a:schemeClr val="dk1"/>
                </a:solidFill>
              </a:rPr>
              <a:t>Update UI Labels to use plain-language terminology</a:t>
            </a:r>
            <a:endParaRPr>
              <a:solidFill>
                <a:schemeClr val="dk1"/>
              </a:solidFill>
            </a:endParaRPr>
          </a:p>
          <a:p>
            <a:pPr indent="0" lvl="0" marL="0" rtl="0" algn="l">
              <a:spcBef>
                <a:spcPts val="1200"/>
              </a:spcBef>
              <a:spcAft>
                <a:spcPts val="0"/>
              </a:spcAft>
              <a:buNone/>
            </a:pPr>
            <a:r>
              <a:rPr lang="en">
                <a:solidFill>
                  <a:schemeClr val="dk1"/>
                </a:solidFill>
              </a:rPr>
              <a:t>Add date and time feature towards workflow step</a:t>
            </a:r>
            <a:endParaRPr>
              <a:solidFill>
                <a:schemeClr val="dk1"/>
              </a:solidFill>
            </a:endParaRPr>
          </a:p>
          <a:p>
            <a:pPr indent="0" lvl="0" marL="0" rtl="0" algn="l">
              <a:spcBef>
                <a:spcPts val="1200"/>
              </a:spcBef>
              <a:spcAft>
                <a:spcPts val="0"/>
              </a:spcAft>
              <a:buNone/>
            </a:pPr>
            <a:r>
              <a:rPr lang="en">
                <a:solidFill>
                  <a:schemeClr val="dk1"/>
                </a:solidFill>
              </a:rPr>
              <a:t>Make sure workflow cant be accessed without logging in</a:t>
            </a:r>
            <a:endParaRPr>
              <a:solidFill>
                <a:schemeClr val="dk1"/>
              </a:solidFill>
            </a:endParaRPr>
          </a:p>
          <a:p>
            <a:pPr indent="0" lvl="0" marL="0" rtl="0" algn="l">
              <a:spcBef>
                <a:spcPts val="1200"/>
              </a:spcBef>
              <a:spcAft>
                <a:spcPts val="1200"/>
              </a:spcAft>
              <a:buNone/>
            </a:pPr>
            <a:r>
              <a:rPr lang="en">
                <a:solidFill>
                  <a:schemeClr val="dk1"/>
                </a:solidFill>
              </a:rPr>
              <a:t>Implement edit feature for the ability to edit workflow steps</a:t>
            </a:r>
            <a:endParaRPr>
              <a:solidFill>
                <a:schemeClr val="dk1"/>
              </a:solidFill>
            </a:endParaRPr>
          </a:p>
        </p:txBody>
      </p:sp>
      <p:pic>
        <p:nvPicPr>
          <p:cNvPr id="188" name="Google Shape;188;p27" title="ae03b84b-bb67-44cb-95d5-5a94c9f004af.png.jpg"/>
          <p:cNvPicPr preferRelativeResize="0"/>
          <p:nvPr/>
        </p:nvPicPr>
        <p:blipFill>
          <a:blip r:embed="rId3">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311700" y="157000"/>
            <a:ext cx="8520600" cy="679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User Story — Admin</a:t>
            </a:r>
            <a:endParaRPr/>
          </a:p>
        </p:txBody>
      </p:sp>
      <p:sp>
        <p:nvSpPr>
          <p:cNvPr id="194" name="Google Shape;194;p28"/>
          <p:cNvSpPr txBox="1"/>
          <p:nvPr>
            <p:ph idx="1" type="body"/>
          </p:nvPr>
        </p:nvSpPr>
        <p:spPr>
          <a:xfrm>
            <a:off x="243125" y="699350"/>
            <a:ext cx="8520600" cy="41865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Clr>
                <a:schemeClr val="dk2"/>
              </a:buClr>
              <a:buSzPts val="1100"/>
              <a:buFont typeface="Arial"/>
              <a:buNone/>
            </a:pPr>
            <a:r>
              <a:rPr b="1" lang="en" sz="1300">
                <a:solidFill>
                  <a:schemeClr val="dk1"/>
                </a:solidFill>
                <a:latin typeface="Arial"/>
                <a:ea typeface="Arial"/>
                <a:cs typeface="Arial"/>
                <a:sym typeface="Arial"/>
              </a:rPr>
              <a:t>Create New Workflow</a:t>
            </a:r>
            <a:endParaRPr b="1" sz="1300">
              <a:solidFill>
                <a:schemeClr val="dk1"/>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300">
                <a:solidFill>
                  <a:schemeClr val="dk1"/>
                </a:solidFill>
                <a:latin typeface="Arial"/>
                <a:ea typeface="Arial"/>
                <a:cs typeface="Arial"/>
                <a:sym typeface="Arial"/>
              </a:rPr>
              <a:t>As an Admin</a:t>
            </a:r>
            <a:r>
              <a:rPr lang="en" sz="1300">
                <a:solidFill>
                  <a:schemeClr val="dk1"/>
                </a:solidFill>
                <a:latin typeface="Arial"/>
                <a:ea typeface="Arial"/>
                <a:cs typeface="Arial"/>
                <a:sym typeface="Arial"/>
              </a:rPr>
              <a:t>, I want to create a new workflow so that I can configure new processes in the system.</a:t>
            </a:r>
            <a:endParaRPr sz="1300">
              <a:solidFill>
                <a:schemeClr val="dk1"/>
              </a:solidFill>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solidFill>
                  <a:schemeClr val="dk1"/>
                </a:solidFill>
                <a:latin typeface="Arial"/>
                <a:ea typeface="Arial"/>
                <a:cs typeface="Arial"/>
                <a:sym typeface="Arial"/>
              </a:rPr>
              <a:t>Acceptance Criteria:</a:t>
            </a:r>
            <a:endParaRPr b="1" sz="1300">
              <a:solidFill>
                <a:schemeClr val="dk1"/>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en" sz="1300">
                <a:solidFill>
                  <a:schemeClr val="dk1"/>
                </a:solidFill>
                <a:latin typeface="Arial"/>
                <a:ea typeface="Arial"/>
                <a:cs typeface="Arial"/>
                <a:sym typeface="Arial"/>
              </a:rPr>
              <a:t>Workflow name is required.</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The workflow name must be unique.</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Description is optional.</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On success, the workflow appears in the workflow list.</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On failure, a clear error message is shown.</a:t>
            </a:r>
            <a:endParaRPr sz="1300">
              <a:solidFill>
                <a:schemeClr val="dk1"/>
              </a:solidFill>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solidFill>
                  <a:schemeClr val="dk1"/>
                </a:solidFill>
                <a:latin typeface="Arial"/>
                <a:ea typeface="Arial"/>
                <a:cs typeface="Arial"/>
                <a:sym typeface="Arial"/>
              </a:rPr>
              <a:t>Technical Task:</a:t>
            </a:r>
            <a:endParaRPr b="1" sz="1300">
              <a:solidFill>
                <a:schemeClr val="dk1"/>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en" sz="1300">
                <a:solidFill>
                  <a:schemeClr val="dk1"/>
                </a:solidFill>
                <a:latin typeface="Arial"/>
                <a:ea typeface="Arial"/>
                <a:cs typeface="Arial"/>
                <a:sym typeface="Arial"/>
              </a:rPr>
              <a:t>[ ] Frontend: Add “Create Workflow” button and workflow creation form.</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 ] Backend: Validate workflow name uniqueness before insertion.</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 ] Backend: Insert workflow record into database.</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 ] Backend: Return success or validation error messages.</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 ] QA: Test workflow creation with valid and duplicate workflow names.</a:t>
            </a:r>
            <a:endParaRPr sz="1300">
              <a:solidFill>
                <a:schemeClr val="dk1"/>
              </a:solidFill>
              <a:latin typeface="Arial"/>
              <a:ea typeface="Arial"/>
              <a:cs typeface="Arial"/>
              <a:sym typeface="Arial"/>
            </a:endParaRPr>
          </a:p>
          <a:p>
            <a:pPr indent="0" lvl="0" marL="0" rtl="0" algn="l">
              <a:lnSpc>
                <a:spcPct val="184090"/>
              </a:lnSpc>
              <a:spcBef>
                <a:spcPts val="1200"/>
              </a:spcBef>
              <a:spcAft>
                <a:spcPts val="0"/>
              </a:spcAft>
              <a:buClr>
                <a:schemeClr val="dk2"/>
              </a:buClr>
              <a:buSzPts val="275"/>
              <a:buFont typeface="Arial"/>
              <a:buNone/>
            </a:pPr>
            <a:r>
              <a:t/>
            </a:r>
            <a:endParaRPr b="1" sz="1300">
              <a:solidFill>
                <a:schemeClr val="dk1"/>
              </a:solidFill>
              <a:latin typeface="Arial"/>
              <a:ea typeface="Arial"/>
              <a:cs typeface="Arial"/>
              <a:sym typeface="Arial"/>
            </a:endParaRPr>
          </a:p>
        </p:txBody>
      </p:sp>
      <p:sp>
        <p:nvSpPr>
          <p:cNvPr id="195" name="Google Shape;195;p28"/>
          <p:cNvSpPr txBox="1"/>
          <p:nvPr/>
        </p:nvSpPr>
        <p:spPr>
          <a:xfrm>
            <a:off x="7524325" y="192600"/>
            <a:ext cx="1414800" cy="4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Laila Velasquez</a:t>
            </a:r>
            <a:endParaRPr sz="1500">
              <a:solidFill>
                <a:schemeClr val="lt2"/>
              </a:solidFill>
              <a:latin typeface="Source Sans Pro"/>
              <a:ea typeface="Source Sans Pro"/>
              <a:cs typeface="Source Sans Pro"/>
              <a:sym typeface="Source Sans Pro"/>
            </a:endParaRPr>
          </a:p>
        </p:txBody>
      </p:sp>
      <p:pic>
        <p:nvPicPr>
          <p:cNvPr descr="C:\Users\redelbi\AppData\Local\Microsoft\Windows\INetCache\Content.Word\LQTCHS-Logo.png" id="196" name="Google Shape;196;p28"/>
          <p:cNvPicPr preferRelativeResize="0"/>
          <p:nvPr/>
        </p:nvPicPr>
        <p:blipFill>
          <a:blip r:embed="rId3">
            <a:alphaModFix/>
          </a:blip>
          <a:stretch>
            <a:fillRect/>
          </a:stretch>
        </p:blipFill>
        <p:spPr>
          <a:xfrm>
            <a:off x="7413822" y="4314677"/>
            <a:ext cx="1418478" cy="679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311700" y="157000"/>
            <a:ext cx="8520600" cy="679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User Story — User</a:t>
            </a:r>
            <a:endParaRPr/>
          </a:p>
        </p:txBody>
      </p:sp>
      <p:sp>
        <p:nvSpPr>
          <p:cNvPr id="202" name="Google Shape;202;p29"/>
          <p:cNvSpPr txBox="1"/>
          <p:nvPr>
            <p:ph idx="1" type="body"/>
          </p:nvPr>
        </p:nvSpPr>
        <p:spPr>
          <a:xfrm>
            <a:off x="311600" y="745650"/>
            <a:ext cx="8520600" cy="42153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Clr>
                <a:schemeClr val="dk2"/>
              </a:buClr>
              <a:buSzPts val="1100"/>
              <a:buFont typeface="Arial"/>
              <a:buNone/>
            </a:pPr>
            <a:r>
              <a:rPr b="1" lang="en" sz="1300">
                <a:solidFill>
                  <a:schemeClr val="dk1"/>
                </a:solidFill>
                <a:latin typeface="Arial"/>
                <a:ea typeface="Arial"/>
                <a:cs typeface="Arial"/>
                <a:sym typeface="Arial"/>
              </a:rPr>
              <a:t>Improve Search Function in Workflow Queue</a:t>
            </a:r>
            <a:endParaRPr b="1" sz="1300">
              <a:solidFill>
                <a:schemeClr val="dk1"/>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300">
                <a:solidFill>
                  <a:schemeClr val="dk1"/>
                </a:solidFill>
                <a:latin typeface="Arial"/>
                <a:ea typeface="Arial"/>
                <a:cs typeface="Arial"/>
                <a:sym typeface="Arial"/>
              </a:rPr>
              <a:t>As a User</a:t>
            </a:r>
            <a:r>
              <a:rPr lang="en" sz="1300">
                <a:solidFill>
                  <a:schemeClr val="dk1"/>
                </a:solidFill>
                <a:latin typeface="Arial"/>
                <a:ea typeface="Arial"/>
                <a:cs typeface="Arial"/>
                <a:sym typeface="Arial"/>
              </a:rPr>
              <a:t>, I want to quickly search for workflows or tasks using keywords so that I can find specific items without scrolling through long lists.</a:t>
            </a:r>
            <a:endParaRPr sz="1300">
              <a:solidFill>
                <a:schemeClr val="dk1"/>
              </a:solidFill>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solidFill>
                  <a:schemeClr val="dk1"/>
                </a:solidFill>
                <a:latin typeface="Arial"/>
                <a:ea typeface="Arial"/>
                <a:cs typeface="Arial"/>
                <a:sym typeface="Arial"/>
              </a:rPr>
              <a:t>Acceptance Criteria:</a:t>
            </a:r>
            <a:endParaRPr b="1" sz="1300">
              <a:solidFill>
                <a:schemeClr val="dk1"/>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en" sz="1300">
                <a:solidFill>
                  <a:schemeClr val="dk1"/>
                </a:solidFill>
                <a:latin typeface="Arial"/>
                <a:ea typeface="Arial"/>
                <a:cs typeface="Arial"/>
                <a:sym typeface="Arial"/>
              </a:rPr>
              <a:t>The search bar filters workflows by name or description.</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Search results update dynamically when a keyword is entered.</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Search supports partial matches (e.g., typing “test” finds “Testing Workflow”).</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Search resets when the search box is cleared.</a:t>
            </a:r>
            <a:endParaRPr sz="1300">
              <a:solidFill>
                <a:schemeClr val="dk1"/>
              </a:solidFill>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solidFill>
                  <a:schemeClr val="dk1"/>
                </a:solidFill>
                <a:latin typeface="Arial"/>
                <a:ea typeface="Arial"/>
                <a:cs typeface="Arial"/>
                <a:sym typeface="Arial"/>
              </a:rPr>
              <a:t>Technical Task:</a:t>
            </a:r>
            <a:endParaRPr b="1" sz="1300">
              <a:solidFill>
                <a:schemeClr val="dk1"/>
              </a:solidFill>
              <a:latin typeface="Arial"/>
              <a:ea typeface="Arial"/>
              <a:cs typeface="Arial"/>
              <a:sym typeface="Arial"/>
            </a:endParaRPr>
          </a:p>
          <a:p>
            <a:pPr indent="0" lvl="0" marL="0" rtl="0" algn="l">
              <a:spcBef>
                <a:spcPts val="1200"/>
              </a:spcBef>
              <a:spcAft>
                <a:spcPts val="1200"/>
              </a:spcAft>
              <a:buNone/>
            </a:pPr>
            <a:r>
              <a:rPr lang="en" sz="1300">
                <a:solidFill>
                  <a:schemeClr val="dk1"/>
                </a:solidFill>
                <a:latin typeface="Arial"/>
                <a:ea typeface="Arial"/>
                <a:cs typeface="Arial"/>
                <a:sym typeface="Arial"/>
              </a:rPr>
              <a:t>[ ] Backend: Update SQL queries to support keyword filtering using LIKE conditions.</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 ] Backend: Optimize search query performance for fast response times.</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 ] Frontend: Implement dynamic filtering behavior tied to search input.</a:t>
            </a:r>
            <a:br>
              <a:rPr lang="en" sz="1300">
                <a:solidFill>
                  <a:schemeClr val="dk1"/>
                </a:solidFill>
                <a:latin typeface="Arial"/>
                <a:ea typeface="Arial"/>
                <a:cs typeface="Arial"/>
                <a:sym typeface="Arial"/>
              </a:rPr>
            </a:br>
            <a:r>
              <a:rPr lang="en" sz="1300">
                <a:solidFill>
                  <a:schemeClr val="dk1"/>
                </a:solidFill>
                <a:latin typeface="Arial"/>
                <a:ea typeface="Arial"/>
                <a:cs typeface="Arial"/>
                <a:sym typeface="Arial"/>
              </a:rPr>
              <a:t>[ ] QA: Test search accuracy, responsiveness, and reset behavior.</a:t>
            </a:r>
            <a:endParaRPr b="1" sz="1300">
              <a:solidFill>
                <a:schemeClr val="dk1"/>
              </a:solidFill>
              <a:latin typeface="Arial"/>
              <a:ea typeface="Arial"/>
              <a:cs typeface="Arial"/>
              <a:sym typeface="Arial"/>
            </a:endParaRPr>
          </a:p>
        </p:txBody>
      </p:sp>
      <p:sp>
        <p:nvSpPr>
          <p:cNvPr id="203" name="Google Shape;203;p29"/>
          <p:cNvSpPr txBox="1"/>
          <p:nvPr/>
        </p:nvSpPr>
        <p:spPr>
          <a:xfrm>
            <a:off x="7254800" y="251300"/>
            <a:ext cx="15777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Laila Velasquez</a:t>
            </a:r>
            <a:endParaRPr sz="1500">
              <a:solidFill>
                <a:schemeClr val="lt2"/>
              </a:solidFill>
              <a:latin typeface="Source Sans Pro"/>
              <a:ea typeface="Source Sans Pro"/>
              <a:cs typeface="Source Sans Pro"/>
              <a:sym typeface="Source Sans Pro"/>
            </a:endParaRPr>
          </a:p>
        </p:txBody>
      </p:sp>
      <p:pic>
        <p:nvPicPr>
          <p:cNvPr descr="C:\Users\redelbi\AppData\Local\Microsoft\Windows\INetCache\Content.Word\LQTCHS-Logo.png" id="204" name="Google Shape;204;p29"/>
          <p:cNvPicPr preferRelativeResize="0"/>
          <p:nvPr/>
        </p:nvPicPr>
        <p:blipFill>
          <a:blip r:embed="rId3">
            <a:alphaModFix/>
          </a:blip>
          <a:stretch>
            <a:fillRect/>
          </a:stretch>
        </p:blipFill>
        <p:spPr>
          <a:xfrm>
            <a:off x="7413822" y="4314677"/>
            <a:ext cx="1418478" cy="679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8" name="Shape 208"/>
        <p:cNvGrpSpPr/>
        <p:nvPr/>
      </p:nvGrpSpPr>
      <p:grpSpPr>
        <a:xfrm>
          <a:off x="0" y="0"/>
          <a:ext cx="0" cy="0"/>
          <a:chOff x="0" y="0"/>
          <a:chExt cx="0" cy="0"/>
        </a:xfrm>
      </p:grpSpPr>
      <p:sp>
        <p:nvSpPr>
          <p:cNvPr id="209" name="Google Shape;209;p3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Interface (UI) Examples </a:t>
            </a:r>
            <a:endParaRPr/>
          </a:p>
        </p:txBody>
      </p:sp>
      <p:sp>
        <p:nvSpPr>
          <p:cNvPr id="210" name="Google Shape;210;p30"/>
          <p:cNvSpPr txBox="1"/>
          <p:nvPr>
            <p:ph idx="1" type="body"/>
          </p:nvPr>
        </p:nvSpPr>
        <p:spPr>
          <a:xfrm>
            <a:off x="311700" y="1152475"/>
            <a:ext cx="38367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84090"/>
              </a:lnSpc>
              <a:spcBef>
                <a:spcPts val="0"/>
              </a:spcBef>
              <a:spcAft>
                <a:spcPts val="0"/>
              </a:spcAft>
              <a:buClr>
                <a:schemeClr val="dk2"/>
              </a:buClr>
              <a:buSzPts val="254"/>
              <a:buFont typeface="Arial"/>
              <a:buNone/>
            </a:pPr>
            <a:r>
              <a:rPr b="1" lang="en" sz="1200">
                <a:solidFill>
                  <a:schemeClr val="dk1"/>
                </a:solidFill>
                <a:latin typeface="Arial"/>
                <a:ea typeface="Arial"/>
                <a:cs typeface="Arial"/>
                <a:sym typeface="Arial"/>
              </a:rPr>
              <a:t>High level view of WFQ admin UI</a:t>
            </a:r>
            <a:endParaRPr b="1" sz="1200">
              <a:solidFill>
                <a:schemeClr val="dk1"/>
              </a:solidFill>
              <a:latin typeface="Arial"/>
              <a:ea typeface="Arial"/>
              <a:cs typeface="Arial"/>
              <a:sym typeface="Arial"/>
            </a:endParaRPr>
          </a:p>
          <a:p>
            <a:pPr indent="-299085" lvl="0" marL="457200" rtl="0" algn="l">
              <a:spcBef>
                <a:spcPts val="0"/>
              </a:spcBef>
              <a:spcAft>
                <a:spcPts val="0"/>
              </a:spcAft>
              <a:buClr>
                <a:schemeClr val="dk1"/>
              </a:buClr>
              <a:buSzPct val="100000"/>
              <a:buFont typeface="Arial"/>
              <a:buChar char="●"/>
            </a:pPr>
            <a:r>
              <a:rPr lang="en" sz="1200">
                <a:solidFill>
                  <a:schemeClr val="dk1"/>
                </a:solidFill>
                <a:latin typeface="Arial"/>
                <a:ea typeface="Arial"/>
                <a:cs typeface="Arial"/>
                <a:sym typeface="Arial"/>
              </a:rPr>
              <a:t>Web Based admin UI thats the main way to manager and monitor WFQ workflows. Its built for clarity, efficiency, and matches Leidos branding while communicating with the backend via internal Controller Actions.</a:t>
            </a:r>
            <a:endParaRPr sz="1200">
              <a:solidFill>
                <a:schemeClr val="dk1"/>
              </a:solidFill>
              <a:latin typeface="Arial"/>
              <a:ea typeface="Arial"/>
              <a:cs typeface="Arial"/>
              <a:sym typeface="Arial"/>
            </a:endParaRPr>
          </a:p>
          <a:p>
            <a:pPr indent="-299085" lvl="0" marL="457200" rtl="0" algn="l">
              <a:spcBef>
                <a:spcPts val="0"/>
              </a:spcBef>
              <a:spcAft>
                <a:spcPts val="0"/>
              </a:spcAft>
              <a:buClr>
                <a:schemeClr val="dk1"/>
              </a:buClr>
              <a:buSzPct val="100000"/>
              <a:buFont typeface="Arial"/>
              <a:buChar char="●"/>
            </a:pPr>
            <a:r>
              <a:rPr lang="en" sz="1200">
                <a:solidFill>
                  <a:schemeClr val="dk1"/>
                </a:solidFill>
                <a:latin typeface="Arial"/>
                <a:ea typeface="Arial"/>
                <a:cs typeface="Arial"/>
                <a:sym typeface="Arial"/>
              </a:rPr>
              <a:t>Dashboard / workflow list shows all workflows a user can access, with sortable columns (Name, Status, Created Date) and actions like Edit and View Steps.</a:t>
            </a:r>
            <a:endParaRPr sz="1200">
              <a:solidFill>
                <a:schemeClr val="dk1"/>
              </a:solidFill>
              <a:latin typeface="Arial"/>
              <a:ea typeface="Arial"/>
              <a:cs typeface="Arial"/>
              <a:sym typeface="Arial"/>
            </a:endParaRPr>
          </a:p>
          <a:p>
            <a:pPr indent="-299085" lvl="0" marL="457200" rtl="0" algn="l">
              <a:spcBef>
                <a:spcPts val="0"/>
              </a:spcBef>
              <a:spcAft>
                <a:spcPts val="0"/>
              </a:spcAft>
              <a:buClr>
                <a:schemeClr val="dk1"/>
              </a:buClr>
              <a:buSzPct val="100000"/>
              <a:buFont typeface="Arial"/>
              <a:buChar char="●"/>
            </a:pPr>
            <a:r>
              <a:rPr lang="en" sz="1200">
                <a:solidFill>
                  <a:schemeClr val="dk1"/>
                </a:solidFill>
                <a:latin typeface="Arial"/>
                <a:ea typeface="Arial"/>
                <a:cs typeface="Arial"/>
                <a:sym typeface="Arial"/>
              </a:rPr>
              <a:t>Workflow Step and Task pages show steps and assigned task, with actions like Edit, Delete, Complete Task, and Reassign.</a:t>
            </a:r>
            <a:endParaRPr sz="1200">
              <a:solidFill>
                <a:schemeClr val="dk1"/>
              </a:solidFill>
              <a:latin typeface="Arial"/>
              <a:ea typeface="Arial"/>
              <a:cs typeface="Arial"/>
              <a:sym typeface="Arial"/>
            </a:endParaRPr>
          </a:p>
          <a:p>
            <a:pPr indent="-299085" lvl="0" marL="457200" rtl="0" algn="l">
              <a:spcBef>
                <a:spcPts val="0"/>
              </a:spcBef>
              <a:spcAft>
                <a:spcPts val="0"/>
              </a:spcAft>
              <a:buClr>
                <a:schemeClr val="dk1"/>
              </a:buClr>
              <a:buSzPct val="100000"/>
              <a:buFont typeface="Arial"/>
              <a:buChar char="●"/>
            </a:pPr>
            <a:r>
              <a:rPr lang="en" sz="1200">
                <a:solidFill>
                  <a:schemeClr val="dk1"/>
                </a:solidFill>
                <a:latin typeface="Arial"/>
                <a:ea typeface="Arial"/>
                <a:cs typeface="Arial"/>
                <a:sym typeface="Arial"/>
              </a:rPr>
              <a:t>Search and filter controls the admin interface let users find workflows/tasks and create or update workflows, steps, and tasks, with on-screen status messages, confirmations, and error messages. </a:t>
            </a:r>
            <a:endParaRPr sz="1200">
              <a:solidFill>
                <a:schemeClr val="dk1"/>
              </a:solidFill>
              <a:latin typeface="Arial"/>
              <a:ea typeface="Arial"/>
              <a:cs typeface="Arial"/>
              <a:sym typeface="Arial"/>
            </a:endParaRPr>
          </a:p>
          <a:p>
            <a:pPr indent="0" lvl="0" marL="457200" rtl="0" algn="l">
              <a:spcBef>
                <a:spcPts val="0"/>
              </a:spcBef>
              <a:spcAft>
                <a:spcPts val="0"/>
              </a:spcAft>
              <a:buNone/>
            </a:pPr>
            <a:r>
              <a:t/>
            </a:r>
            <a:endParaRPr/>
          </a:p>
        </p:txBody>
      </p:sp>
      <p:sp>
        <p:nvSpPr>
          <p:cNvPr id="211" name="Google Shape;211;p30"/>
          <p:cNvSpPr txBox="1"/>
          <p:nvPr/>
        </p:nvSpPr>
        <p:spPr>
          <a:xfrm>
            <a:off x="7611900" y="216075"/>
            <a:ext cx="12204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Jesus</a:t>
            </a:r>
            <a:endParaRPr sz="1800">
              <a:solidFill>
                <a:schemeClr val="lt2"/>
              </a:solidFill>
              <a:latin typeface="Source Sans Pro"/>
              <a:ea typeface="Source Sans Pro"/>
              <a:cs typeface="Source Sans Pro"/>
              <a:sym typeface="Source Sans Pro"/>
            </a:endParaRPr>
          </a:p>
        </p:txBody>
      </p:sp>
      <p:pic>
        <p:nvPicPr>
          <p:cNvPr id="212" name="Google Shape;212;p30"/>
          <p:cNvPicPr preferRelativeResize="0"/>
          <p:nvPr/>
        </p:nvPicPr>
        <p:blipFill>
          <a:blip r:embed="rId3">
            <a:alphaModFix/>
          </a:blip>
          <a:stretch>
            <a:fillRect/>
          </a:stretch>
        </p:blipFill>
        <p:spPr>
          <a:xfrm>
            <a:off x="4148399" y="1192277"/>
            <a:ext cx="4777199" cy="3170000"/>
          </a:xfrm>
          <a:prstGeom prst="rect">
            <a:avLst/>
          </a:prstGeom>
          <a:noFill/>
          <a:ln>
            <a:noFill/>
          </a:ln>
        </p:spPr>
      </p:pic>
      <p:pic>
        <p:nvPicPr>
          <p:cNvPr id="213" name="Google Shape;213;p30"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Interface (UI)</a:t>
            </a:r>
            <a:endParaRPr/>
          </a:p>
        </p:txBody>
      </p:sp>
      <p:pic>
        <p:nvPicPr>
          <p:cNvPr id="219" name="Google Shape;219;p31"/>
          <p:cNvPicPr preferRelativeResize="0"/>
          <p:nvPr/>
        </p:nvPicPr>
        <p:blipFill>
          <a:blip r:embed="rId3">
            <a:alphaModFix/>
          </a:blip>
          <a:stretch>
            <a:fillRect/>
          </a:stretch>
        </p:blipFill>
        <p:spPr>
          <a:xfrm>
            <a:off x="311700" y="1068425"/>
            <a:ext cx="3952875" cy="3400425"/>
          </a:xfrm>
          <a:prstGeom prst="rect">
            <a:avLst/>
          </a:prstGeom>
          <a:noFill/>
          <a:ln>
            <a:noFill/>
          </a:ln>
        </p:spPr>
      </p:pic>
      <p:sp>
        <p:nvSpPr>
          <p:cNvPr id="220" name="Google Shape;220;p31"/>
          <p:cNvSpPr txBox="1"/>
          <p:nvPr/>
        </p:nvSpPr>
        <p:spPr>
          <a:xfrm>
            <a:off x="6872100" y="239550"/>
            <a:ext cx="20667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Ruben,Alexander</a:t>
            </a:r>
            <a:endParaRPr sz="1800">
              <a:solidFill>
                <a:schemeClr val="lt2"/>
              </a:solidFill>
              <a:latin typeface="Source Sans Pro"/>
              <a:ea typeface="Source Sans Pro"/>
              <a:cs typeface="Source Sans Pro"/>
              <a:sym typeface="Source Sans Pro"/>
            </a:endParaRPr>
          </a:p>
        </p:txBody>
      </p:sp>
      <p:pic>
        <p:nvPicPr>
          <p:cNvPr id="221" name="Google Shape;221;p31"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
        <p:nvSpPr>
          <p:cNvPr id="222" name="Google Shape;222;p31"/>
          <p:cNvSpPr txBox="1"/>
          <p:nvPr/>
        </p:nvSpPr>
        <p:spPr>
          <a:xfrm>
            <a:off x="4558475" y="1276625"/>
            <a:ext cx="4132200" cy="3240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n" sz="1300">
                <a:solidFill>
                  <a:schemeClr val="dk1"/>
                </a:solidFill>
              </a:rPr>
              <a:t>User enters </a:t>
            </a:r>
            <a:r>
              <a:rPr b="1" lang="en" sz="1300">
                <a:solidFill>
                  <a:schemeClr val="dk1"/>
                </a:solidFill>
              </a:rPr>
              <a:t>username + password</a:t>
            </a:r>
            <a:r>
              <a:rPr lang="en" sz="1300">
                <a:solidFill>
                  <a:schemeClr val="dk1"/>
                </a:solidFill>
              </a:rPr>
              <a:t> into the login form.</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Form sends credentials to the </a:t>
            </a:r>
            <a:r>
              <a:rPr lang="en" sz="1300">
                <a:solidFill>
                  <a:schemeClr val="dk1"/>
                </a:solidFill>
                <a:latin typeface="Roboto Mono"/>
                <a:ea typeface="Roboto Mono"/>
                <a:cs typeface="Roboto Mono"/>
                <a:sym typeface="Roboto Mono"/>
              </a:rPr>
              <a:t>Login</a:t>
            </a:r>
            <a:r>
              <a:rPr lang="en" sz="1300">
                <a:solidFill>
                  <a:schemeClr val="dk1"/>
                </a:solidFill>
              </a:rPr>
              <a:t> POST action in </a:t>
            </a:r>
            <a:r>
              <a:rPr lang="en" sz="1300">
                <a:solidFill>
                  <a:schemeClr val="dk1"/>
                </a:solidFill>
                <a:latin typeface="Roboto Mono"/>
                <a:ea typeface="Roboto Mono"/>
                <a:cs typeface="Roboto Mono"/>
                <a:sym typeface="Roboto Mono"/>
              </a:rPr>
              <a:t>HomeController</a:t>
            </a:r>
            <a:r>
              <a:rPr lang="en" sz="1300">
                <a:solidFill>
                  <a:schemeClr val="dk1"/>
                </a:solidFill>
              </a:rPr>
              <a:t>.</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System calls a function </a:t>
            </a:r>
            <a:r>
              <a:rPr lang="en" sz="1300">
                <a:solidFill>
                  <a:schemeClr val="dk1"/>
                </a:solidFill>
                <a:latin typeface="Roboto Mono"/>
                <a:ea typeface="Roboto Mono"/>
                <a:cs typeface="Roboto Mono"/>
                <a:sym typeface="Roboto Mono"/>
              </a:rPr>
              <a:t>UserService.ValidateUser(username, password)</a:t>
            </a:r>
            <a:r>
              <a:rPr lang="en" sz="1300">
                <a:solidFill>
                  <a:schemeClr val="dk1"/>
                </a:solidFill>
              </a:rPr>
              <a:t> to verify credentials against stored users.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If credentials match:  user is authenticated.</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If credentials fail:  system returns an error message (</a:t>
            </a:r>
            <a:r>
              <a:rPr lang="en" sz="1300">
                <a:solidFill>
                  <a:schemeClr val="dk1"/>
                </a:solidFill>
                <a:latin typeface="Roboto Mono"/>
                <a:ea typeface="Roboto Mono"/>
                <a:cs typeface="Roboto Mono"/>
                <a:sym typeface="Roboto Mono"/>
              </a:rPr>
              <a:t>"Invalid username or password"</a:t>
            </a:r>
            <a:r>
              <a:rPr lang="en" sz="1300">
                <a:solidFill>
                  <a:schemeClr val="dk1"/>
                </a:solidFill>
              </a:rPr>
              <a:t>).</a:t>
            </a:r>
            <a:endParaRPr sz="1300">
              <a:solidFill>
                <a:schemeClr val="dk1"/>
              </a:solidFill>
            </a:endParaRPr>
          </a:p>
          <a:p>
            <a:pPr indent="0" lvl="0" marL="0" rtl="0" algn="l">
              <a:spcBef>
                <a:spcPts val="0"/>
              </a:spcBef>
              <a:spcAft>
                <a:spcPts val="0"/>
              </a:spcAft>
              <a:buNone/>
            </a:pPr>
            <a:r>
              <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Interface (UI)</a:t>
            </a:r>
            <a:endParaRPr/>
          </a:p>
        </p:txBody>
      </p:sp>
      <p:pic>
        <p:nvPicPr>
          <p:cNvPr id="228" name="Google Shape;228;p32"/>
          <p:cNvPicPr preferRelativeResize="0"/>
          <p:nvPr/>
        </p:nvPicPr>
        <p:blipFill>
          <a:blip r:embed="rId3">
            <a:alphaModFix/>
          </a:blip>
          <a:stretch>
            <a:fillRect/>
          </a:stretch>
        </p:blipFill>
        <p:spPr>
          <a:xfrm>
            <a:off x="105073" y="1068425"/>
            <a:ext cx="5138451" cy="3258526"/>
          </a:xfrm>
          <a:prstGeom prst="rect">
            <a:avLst/>
          </a:prstGeom>
          <a:noFill/>
          <a:ln>
            <a:noFill/>
          </a:ln>
        </p:spPr>
      </p:pic>
      <p:sp>
        <p:nvSpPr>
          <p:cNvPr id="229" name="Google Shape;229;p32"/>
          <p:cNvSpPr txBox="1"/>
          <p:nvPr/>
        </p:nvSpPr>
        <p:spPr>
          <a:xfrm>
            <a:off x="6872100" y="239550"/>
            <a:ext cx="20667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Ruben,Alexander</a:t>
            </a:r>
            <a:endParaRPr sz="1800">
              <a:solidFill>
                <a:schemeClr val="lt2"/>
              </a:solidFill>
              <a:latin typeface="Source Sans Pro"/>
              <a:ea typeface="Source Sans Pro"/>
              <a:cs typeface="Source Sans Pro"/>
              <a:sym typeface="Source Sans Pro"/>
            </a:endParaRPr>
          </a:p>
        </p:txBody>
      </p:sp>
      <p:pic>
        <p:nvPicPr>
          <p:cNvPr id="230" name="Google Shape;230;p32"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
        <p:nvSpPr>
          <p:cNvPr id="231" name="Google Shape;231;p32"/>
          <p:cNvSpPr txBox="1"/>
          <p:nvPr/>
        </p:nvSpPr>
        <p:spPr>
          <a:xfrm>
            <a:off x="5243525" y="1351750"/>
            <a:ext cx="3695400" cy="2956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Source Sans Pro"/>
              <a:buChar char="●"/>
            </a:pPr>
            <a:r>
              <a:rPr lang="en" sz="1500">
                <a:solidFill>
                  <a:schemeClr val="dk1"/>
                </a:solidFill>
                <a:latin typeface="Source Sans Pro"/>
                <a:ea typeface="Source Sans Pro"/>
                <a:cs typeface="Source Sans Pro"/>
                <a:sym typeface="Source Sans Pro"/>
              </a:rPr>
              <a:t>Displays all workflows in a table format for easy viewing</a:t>
            </a:r>
            <a:endParaRPr sz="1500">
              <a:solidFill>
                <a:schemeClr val="dk1"/>
              </a:solidFill>
              <a:latin typeface="Source Sans Pro"/>
              <a:ea typeface="Source Sans Pro"/>
              <a:cs typeface="Source Sans Pro"/>
              <a:sym typeface="Source Sans Pro"/>
            </a:endParaRPr>
          </a:p>
          <a:p>
            <a:pPr indent="-323850" lvl="0" marL="457200" rtl="0" algn="l">
              <a:spcBef>
                <a:spcPts val="0"/>
              </a:spcBef>
              <a:spcAft>
                <a:spcPts val="0"/>
              </a:spcAft>
              <a:buClr>
                <a:schemeClr val="dk1"/>
              </a:buClr>
              <a:buSzPts val="1500"/>
              <a:buFont typeface="Source Sans Pro"/>
              <a:buChar char="●"/>
            </a:pPr>
            <a:r>
              <a:rPr lang="en" sz="1500">
                <a:solidFill>
                  <a:schemeClr val="dk1"/>
                </a:solidFill>
                <a:latin typeface="Source Sans Pro"/>
                <a:ea typeface="Source Sans Pro"/>
                <a:cs typeface="Source Sans Pro"/>
                <a:sym typeface="Source Sans Pro"/>
              </a:rPr>
              <a:t>Shows workflow details such as name, type, dates, and record limits</a:t>
            </a:r>
            <a:endParaRPr sz="1500">
              <a:solidFill>
                <a:schemeClr val="dk1"/>
              </a:solidFill>
              <a:latin typeface="Source Sans Pro"/>
              <a:ea typeface="Source Sans Pro"/>
              <a:cs typeface="Source Sans Pro"/>
              <a:sym typeface="Source Sans Pro"/>
            </a:endParaRPr>
          </a:p>
          <a:p>
            <a:pPr indent="-323850" lvl="0" marL="457200" rtl="0" algn="l">
              <a:spcBef>
                <a:spcPts val="0"/>
              </a:spcBef>
              <a:spcAft>
                <a:spcPts val="0"/>
              </a:spcAft>
              <a:buClr>
                <a:schemeClr val="dk1"/>
              </a:buClr>
              <a:buSzPts val="1500"/>
              <a:buFont typeface="Source Sans Pro"/>
              <a:buChar char="●"/>
            </a:pPr>
            <a:r>
              <a:rPr lang="en" sz="1500">
                <a:solidFill>
                  <a:schemeClr val="dk1"/>
                </a:solidFill>
                <a:latin typeface="Source Sans Pro"/>
                <a:ea typeface="Source Sans Pro"/>
                <a:cs typeface="Source Sans Pro"/>
                <a:sym typeface="Source Sans Pro"/>
              </a:rPr>
              <a:t>Role-based interface: admins see additional controls and data</a:t>
            </a:r>
            <a:endParaRPr sz="1500">
              <a:solidFill>
                <a:schemeClr val="dk1"/>
              </a:solidFill>
              <a:latin typeface="Source Sans Pro"/>
              <a:ea typeface="Source Sans Pro"/>
              <a:cs typeface="Source Sans Pro"/>
              <a:sym typeface="Source Sans Pro"/>
            </a:endParaRPr>
          </a:p>
          <a:p>
            <a:pPr indent="-323850" lvl="0" marL="457200" rtl="0" algn="l">
              <a:spcBef>
                <a:spcPts val="0"/>
              </a:spcBef>
              <a:spcAft>
                <a:spcPts val="0"/>
              </a:spcAft>
              <a:buClr>
                <a:schemeClr val="dk1"/>
              </a:buClr>
              <a:buSzPts val="1500"/>
              <a:buFont typeface="Source Sans Pro"/>
              <a:buChar char="●"/>
            </a:pPr>
            <a:r>
              <a:rPr lang="en" sz="1500">
                <a:solidFill>
                  <a:schemeClr val="dk1"/>
                </a:solidFill>
                <a:latin typeface="Source Sans Pro"/>
                <a:ea typeface="Source Sans Pro"/>
                <a:cs typeface="Source Sans Pro"/>
                <a:sym typeface="Source Sans Pro"/>
              </a:rPr>
              <a:t>Search and sorting features help users quickly find workflows</a:t>
            </a:r>
            <a:endParaRPr sz="1500">
              <a:solidFill>
                <a:schemeClr val="dk1"/>
              </a:solidFill>
              <a:latin typeface="Source Sans Pro"/>
              <a:ea typeface="Source Sans Pro"/>
              <a:cs typeface="Source Sans Pro"/>
              <a:sym typeface="Source Sans Pro"/>
            </a:endParaRPr>
          </a:p>
          <a:p>
            <a:pPr indent="-323850" lvl="0" marL="457200" rtl="0" algn="l">
              <a:spcBef>
                <a:spcPts val="0"/>
              </a:spcBef>
              <a:spcAft>
                <a:spcPts val="0"/>
              </a:spcAft>
              <a:buClr>
                <a:schemeClr val="dk1"/>
              </a:buClr>
              <a:buSzPts val="1500"/>
              <a:buFont typeface="Source Sans Pro"/>
              <a:buChar char="●"/>
            </a:pPr>
            <a:r>
              <a:rPr lang="en" sz="1500">
                <a:solidFill>
                  <a:schemeClr val="dk1"/>
                </a:solidFill>
                <a:latin typeface="Source Sans Pro"/>
                <a:ea typeface="Source Sans Pro"/>
                <a:cs typeface="Source Sans Pro"/>
                <a:sym typeface="Source Sans Pro"/>
              </a:rPr>
              <a:t>Action buttons allow users to view, edit, delete, and reorder workflows</a:t>
            </a:r>
            <a:endParaRPr sz="1500">
              <a:solidFill>
                <a:schemeClr val="dk1"/>
              </a:solidFill>
              <a:latin typeface="Source Sans Pro"/>
              <a:ea typeface="Source Sans Pro"/>
              <a:cs typeface="Source Sans Pro"/>
              <a:sym typeface="Source Sans Pro"/>
            </a:endParaRPr>
          </a:p>
          <a:p>
            <a:pPr indent="-323850" lvl="0" marL="457200" rtl="0" algn="l">
              <a:spcBef>
                <a:spcPts val="0"/>
              </a:spcBef>
              <a:spcAft>
                <a:spcPts val="0"/>
              </a:spcAft>
              <a:buClr>
                <a:schemeClr val="dk1"/>
              </a:buClr>
              <a:buSzPts val="1500"/>
              <a:buFont typeface="Source Sans Pro"/>
              <a:buChar char="●"/>
            </a:pPr>
            <a:r>
              <a:rPr lang="en" sz="1500">
                <a:solidFill>
                  <a:schemeClr val="dk1"/>
                </a:solidFill>
                <a:latin typeface="Source Sans Pro"/>
                <a:ea typeface="Source Sans Pro"/>
                <a:cs typeface="Source Sans Pro"/>
                <a:sym typeface="Source Sans Pro"/>
              </a:rPr>
              <a:t>Connected to backend services to pull real-time workflow data from the database</a:t>
            </a:r>
            <a:endParaRPr sz="15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500">
              <a:solidFill>
                <a:schemeClr val="lt2"/>
              </a:solidFill>
              <a:latin typeface="Source Sans Pro"/>
              <a:ea typeface="Source Sans Pro"/>
              <a:cs typeface="Source Sans Pro"/>
              <a:sym typeface="Source Sans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Interface (UI)</a:t>
            </a:r>
            <a:endParaRPr/>
          </a:p>
        </p:txBody>
      </p:sp>
      <p:pic>
        <p:nvPicPr>
          <p:cNvPr id="237" name="Google Shape;237;p33"/>
          <p:cNvPicPr preferRelativeResize="0"/>
          <p:nvPr/>
        </p:nvPicPr>
        <p:blipFill>
          <a:blip r:embed="rId3">
            <a:alphaModFix/>
          </a:blip>
          <a:stretch>
            <a:fillRect/>
          </a:stretch>
        </p:blipFill>
        <p:spPr>
          <a:xfrm>
            <a:off x="680100" y="1068425"/>
            <a:ext cx="7783798" cy="3770277"/>
          </a:xfrm>
          <a:prstGeom prst="rect">
            <a:avLst/>
          </a:prstGeom>
          <a:noFill/>
          <a:ln>
            <a:noFill/>
          </a:ln>
        </p:spPr>
      </p:pic>
      <p:sp>
        <p:nvSpPr>
          <p:cNvPr id="238" name="Google Shape;238;p33"/>
          <p:cNvSpPr txBox="1"/>
          <p:nvPr/>
        </p:nvSpPr>
        <p:spPr>
          <a:xfrm>
            <a:off x="6872100" y="239550"/>
            <a:ext cx="20667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Jesus</a:t>
            </a:r>
            <a:endParaRPr sz="1800">
              <a:solidFill>
                <a:schemeClr val="lt2"/>
              </a:solidFill>
              <a:latin typeface="Source Sans Pro"/>
              <a:ea typeface="Source Sans Pro"/>
              <a:cs typeface="Source Sans Pro"/>
              <a:sym typeface="Source Sans Pro"/>
            </a:endParaRPr>
          </a:p>
        </p:txBody>
      </p:sp>
      <p:pic>
        <p:nvPicPr>
          <p:cNvPr id="239" name="Google Shape;239;p33"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Workflow Configuration</a:t>
            </a:r>
            <a:r>
              <a:rPr lang="en"/>
              <a:t>                                                                                            </a:t>
            </a:r>
            <a:endParaRPr/>
          </a:p>
        </p:txBody>
      </p:sp>
      <p:sp>
        <p:nvSpPr>
          <p:cNvPr id="245" name="Google Shape;245;p34"/>
          <p:cNvSpPr txBox="1"/>
          <p:nvPr>
            <p:ph idx="1" type="body"/>
          </p:nvPr>
        </p:nvSpPr>
        <p:spPr>
          <a:xfrm>
            <a:off x="4513975" y="1068425"/>
            <a:ext cx="4455300" cy="3872100"/>
          </a:xfrm>
          <a:prstGeom prst="rect">
            <a:avLst/>
          </a:prstGeom>
        </p:spPr>
        <p:txBody>
          <a:bodyPr anchorCtr="0" anchor="t" bIns="91425" lIns="91425" spcFirstLastPara="1" rIns="91425" wrap="square" tIns="91425">
            <a:noAutofit/>
          </a:bodyPr>
          <a:lstStyle/>
          <a:p>
            <a:pPr indent="-323850" lvl="0" marL="457200" rtl="0" algn="l">
              <a:lnSpc>
                <a:spcPct val="95000"/>
              </a:lnSpc>
              <a:spcBef>
                <a:spcPts val="0"/>
              </a:spcBef>
              <a:spcAft>
                <a:spcPts val="0"/>
              </a:spcAft>
              <a:buClr>
                <a:schemeClr val="dk1"/>
              </a:buClr>
              <a:buSzPts val="1500"/>
              <a:buChar char="●"/>
            </a:pPr>
            <a:r>
              <a:rPr b="1" lang="en" sz="1500">
                <a:solidFill>
                  <a:schemeClr val="dk1"/>
                </a:solidFill>
              </a:rPr>
              <a:t>Multi-Layered Input Validation: </a:t>
            </a:r>
            <a:r>
              <a:rPr lang="en" sz="1500">
                <a:solidFill>
                  <a:schemeClr val="dk1"/>
                </a:solidFill>
              </a:rPr>
              <a:t>Enforces strict 200-character limits, sanitizes whitespace, and prevents duplicate workflow names via asynchronous server-side database checks.</a:t>
            </a:r>
            <a:endParaRPr sz="1500">
              <a:solidFill>
                <a:schemeClr val="dk1"/>
              </a:solidFill>
            </a:endParaRPr>
          </a:p>
          <a:p>
            <a:pPr indent="-323850" lvl="0" marL="457200" rtl="0" algn="l">
              <a:lnSpc>
                <a:spcPct val="95000"/>
              </a:lnSpc>
              <a:spcBef>
                <a:spcPts val="0"/>
              </a:spcBef>
              <a:spcAft>
                <a:spcPts val="0"/>
              </a:spcAft>
              <a:buClr>
                <a:schemeClr val="dk1"/>
              </a:buClr>
              <a:buSzPts val="1500"/>
              <a:buChar char="●"/>
            </a:pPr>
            <a:r>
              <a:rPr b="1" lang="en" sz="1500">
                <a:solidFill>
                  <a:schemeClr val="dk1"/>
                </a:solidFill>
              </a:rPr>
              <a:t>Asynchronous Duplicate Prevention:</a:t>
            </a:r>
            <a:r>
              <a:rPr lang="en" sz="1500">
                <a:solidFill>
                  <a:schemeClr val="dk1"/>
                </a:solidFill>
              </a:rPr>
              <a:t> Queries the legacy database in real-time to ensure new workflow names are strictly unique before insertion.</a:t>
            </a:r>
            <a:endParaRPr sz="1500">
              <a:solidFill>
                <a:schemeClr val="dk1"/>
              </a:solidFill>
            </a:endParaRPr>
          </a:p>
          <a:p>
            <a:pPr indent="-323850" lvl="0" marL="457200" rtl="0" algn="l">
              <a:lnSpc>
                <a:spcPct val="95000"/>
              </a:lnSpc>
              <a:spcBef>
                <a:spcPts val="0"/>
              </a:spcBef>
              <a:spcAft>
                <a:spcPts val="0"/>
              </a:spcAft>
              <a:buClr>
                <a:schemeClr val="dk1"/>
              </a:buClr>
              <a:buSzPts val="1500"/>
              <a:buChar char="●"/>
            </a:pPr>
            <a:r>
              <a:rPr b="1" lang="en" sz="1500">
                <a:solidFill>
                  <a:schemeClr val="dk1"/>
                </a:solidFill>
              </a:rPr>
              <a:t>Secure Database Insertion (EF Core):</a:t>
            </a:r>
            <a:r>
              <a:rPr lang="en" sz="1500">
                <a:solidFill>
                  <a:schemeClr val="dk1"/>
                </a:solidFill>
              </a:rPr>
              <a:t> Maps the validated form directly to the legacy Workflow table using Entity Framework Core, abstracting away vulnerable raw SQL syntax.</a:t>
            </a:r>
            <a:endParaRPr sz="1500">
              <a:solidFill>
                <a:schemeClr val="dk1"/>
              </a:solidFill>
            </a:endParaRPr>
          </a:p>
          <a:p>
            <a:pPr indent="-323850" lvl="0" marL="457200" rtl="0" algn="l">
              <a:lnSpc>
                <a:spcPct val="95000"/>
              </a:lnSpc>
              <a:spcBef>
                <a:spcPts val="0"/>
              </a:spcBef>
              <a:spcAft>
                <a:spcPts val="0"/>
              </a:spcAft>
              <a:buClr>
                <a:schemeClr val="dk1"/>
              </a:buClr>
              <a:buSzPts val="1500"/>
              <a:buChar char="●"/>
            </a:pPr>
            <a:r>
              <a:rPr b="1" lang="en" sz="1500">
                <a:solidFill>
                  <a:schemeClr val="dk1"/>
                </a:solidFill>
              </a:rPr>
              <a:t>Automated Audit Initialization:</a:t>
            </a:r>
            <a:r>
              <a:rPr lang="en" sz="1500">
                <a:solidFill>
                  <a:schemeClr val="dk1"/>
                </a:solidFill>
              </a:rPr>
              <a:t> </a:t>
            </a:r>
            <a:r>
              <a:rPr lang="en" sz="1500">
                <a:solidFill>
                  <a:schemeClr val="dk1"/>
                </a:solidFill>
              </a:rPr>
              <a:t>Programmatically injects the exact timestamp and system metadata into the CreatedBy and CreatedDate fields during the initial transaction.</a:t>
            </a:r>
            <a:endParaRPr sz="1500">
              <a:solidFill>
                <a:schemeClr val="dk1"/>
              </a:solidFill>
            </a:endParaRPr>
          </a:p>
        </p:txBody>
      </p:sp>
      <p:pic>
        <p:nvPicPr>
          <p:cNvPr id="246" name="Google Shape;246;p34"/>
          <p:cNvPicPr preferRelativeResize="0"/>
          <p:nvPr/>
        </p:nvPicPr>
        <p:blipFill>
          <a:blip r:embed="rId3">
            <a:alphaModFix/>
          </a:blip>
          <a:stretch>
            <a:fillRect/>
          </a:stretch>
        </p:blipFill>
        <p:spPr>
          <a:xfrm>
            <a:off x="311700" y="1034275"/>
            <a:ext cx="4176304" cy="3770275"/>
          </a:xfrm>
          <a:prstGeom prst="rect">
            <a:avLst/>
          </a:prstGeom>
          <a:noFill/>
          <a:ln>
            <a:noFill/>
          </a:ln>
        </p:spPr>
      </p:pic>
      <p:pic>
        <p:nvPicPr>
          <p:cNvPr id="247" name="Google Shape;247;p34" title="ae03b84b-bb67-44cb-95d5-5a94c9f004af.png.jpg"/>
          <p:cNvPicPr preferRelativeResize="0"/>
          <p:nvPr/>
        </p:nvPicPr>
        <p:blipFill>
          <a:blip r:embed="rId4">
            <a:alphaModFix/>
          </a:blip>
          <a:stretch>
            <a:fillRect/>
          </a:stretch>
        </p:blipFill>
        <p:spPr>
          <a:xfrm>
            <a:off x="8252050" y="4707150"/>
            <a:ext cx="794350" cy="336149"/>
          </a:xfrm>
          <a:prstGeom prst="rect">
            <a:avLst/>
          </a:prstGeom>
          <a:noFill/>
          <a:ln>
            <a:noFill/>
          </a:ln>
        </p:spPr>
      </p:pic>
      <p:sp>
        <p:nvSpPr>
          <p:cNvPr id="248" name="Google Shape;248;p34"/>
          <p:cNvSpPr txBox="1"/>
          <p:nvPr/>
        </p:nvSpPr>
        <p:spPr>
          <a:xfrm>
            <a:off x="6872100" y="239550"/>
            <a:ext cx="20667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Edwin Rojas</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Workflow Configuration                                                                                           </a:t>
            </a:r>
            <a:endParaRPr/>
          </a:p>
        </p:txBody>
      </p:sp>
      <p:sp>
        <p:nvSpPr>
          <p:cNvPr id="254" name="Google Shape;254;p35"/>
          <p:cNvSpPr txBox="1"/>
          <p:nvPr>
            <p:ph idx="1" type="body"/>
          </p:nvPr>
        </p:nvSpPr>
        <p:spPr>
          <a:xfrm>
            <a:off x="4489050" y="1068425"/>
            <a:ext cx="4343100" cy="3872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Validates modifications against existing records, ensuring renamed workflows don't collide with other active workflows in the system.</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Automatically captures the active administrator's session ID and injects it into the UpdatedBy field for </a:t>
            </a:r>
            <a:r>
              <a:rPr b="1" lang="en" sz="1600">
                <a:solidFill>
                  <a:schemeClr val="dk1"/>
                </a:solidFill>
              </a:rPr>
              <a:t>continuous audit trailing</a:t>
            </a:r>
            <a:endParaRPr b="1"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Translates backend database constraint violations into safe, </a:t>
            </a:r>
            <a:r>
              <a:rPr b="1" lang="en" sz="1600">
                <a:solidFill>
                  <a:schemeClr val="dk1"/>
                </a:solidFill>
              </a:rPr>
              <a:t>user-friendly UI alerts</a:t>
            </a:r>
            <a:r>
              <a:rPr lang="en" sz="1600">
                <a:solidFill>
                  <a:schemeClr val="dk1"/>
                </a:solidFill>
              </a:rPr>
              <a:t> without exposing sensitive database stack traces</a:t>
            </a:r>
            <a:endParaRPr sz="1600">
              <a:solidFill>
                <a:schemeClr val="dk1"/>
              </a:solidFill>
            </a:endParaRPr>
          </a:p>
        </p:txBody>
      </p:sp>
      <p:pic>
        <p:nvPicPr>
          <p:cNvPr id="255" name="Google Shape;255;p35"/>
          <p:cNvPicPr preferRelativeResize="0"/>
          <p:nvPr/>
        </p:nvPicPr>
        <p:blipFill>
          <a:blip r:embed="rId3">
            <a:alphaModFix/>
          </a:blip>
          <a:stretch>
            <a:fillRect/>
          </a:stretch>
        </p:blipFill>
        <p:spPr>
          <a:xfrm>
            <a:off x="311688" y="1068425"/>
            <a:ext cx="3989085" cy="3770274"/>
          </a:xfrm>
          <a:prstGeom prst="rect">
            <a:avLst/>
          </a:prstGeom>
          <a:noFill/>
          <a:ln>
            <a:noFill/>
          </a:ln>
        </p:spPr>
      </p:pic>
      <p:pic>
        <p:nvPicPr>
          <p:cNvPr id="256" name="Google Shape;256;p35"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
        <p:nvSpPr>
          <p:cNvPr id="257" name="Google Shape;257;p35"/>
          <p:cNvSpPr txBox="1"/>
          <p:nvPr/>
        </p:nvSpPr>
        <p:spPr>
          <a:xfrm>
            <a:off x="6872100" y="239550"/>
            <a:ext cx="20667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Edwin Rojas</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6"/>
          <p:cNvSpPr txBox="1"/>
          <p:nvPr>
            <p:ph type="title"/>
          </p:nvPr>
        </p:nvSpPr>
        <p:spPr>
          <a:xfrm>
            <a:off x="525800" y="1826350"/>
            <a:ext cx="8520600" cy="62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6900"/>
              <a:t>Time for The Demo</a:t>
            </a:r>
            <a:endParaRPr sz="7400"/>
          </a:p>
        </p:txBody>
      </p:sp>
      <p:sp>
        <p:nvSpPr>
          <p:cNvPr id="263" name="Google Shape;263;p36"/>
          <p:cNvSpPr txBox="1"/>
          <p:nvPr/>
        </p:nvSpPr>
        <p:spPr>
          <a:xfrm>
            <a:off x="6872100" y="239550"/>
            <a:ext cx="20667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latin typeface="Source Sans Pro"/>
              <a:ea typeface="Source Sans Pro"/>
              <a:cs typeface="Source Sans Pro"/>
              <a:sym typeface="Source Sans Pro"/>
            </a:endParaRPr>
          </a:p>
        </p:txBody>
      </p:sp>
      <p:pic>
        <p:nvPicPr>
          <p:cNvPr id="264" name="Google Shape;264;p36" title="ae03b84b-bb67-44cb-95d5-5a94c9f004af.png.jpg"/>
          <p:cNvPicPr preferRelativeResize="0"/>
          <p:nvPr/>
        </p:nvPicPr>
        <p:blipFill>
          <a:blip r:embed="rId3">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0" name="Google Shape;27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1" name="Google Shape;271;p37" title="2026-04-29 20-33-10.mp4">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 name="Shape 275"/>
        <p:cNvGrpSpPr/>
        <p:nvPr/>
      </p:nvGrpSpPr>
      <p:grpSpPr>
        <a:xfrm>
          <a:off x="0" y="0"/>
          <a:ext cx="0" cy="0"/>
          <a:chOff x="0" y="0"/>
          <a:chExt cx="0" cy="0"/>
        </a:xfrm>
      </p:grpSpPr>
      <p:sp>
        <p:nvSpPr>
          <p:cNvPr id="276" name="Google Shape;276;p38"/>
          <p:cNvSpPr txBox="1"/>
          <p:nvPr>
            <p:ph type="title"/>
          </p:nvPr>
        </p:nvSpPr>
        <p:spPr>
          <a:xfrm>
            <a:off x="311700" y="112225"/>
            <a:ext cx="8520600" cy="720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Current Backlog &amp; Final Polish</a:t>
            </a:r>
            <a:endParaRPr/>
          </a:p>
        </p:txBody>
      </p:sp>
      <p:sp>
        <p:nvSpPr>
          <p:cNvPr id="277" name="Google Shape;277;p38"/>
          <p:cNvSpPr txBox="1"/>
          <p:nvPr>
            <p:ph idx="1" type="body"/>
          </p:nvPr>
        </p:nvSpPr>
        <p:spPr>
          <a:xfrm>
            <a:off x="311700" y="1015025"/>
            <a:ext cx="6007800" cy="34503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chemeClr val="dk1"/>
              </a:buClr>
              <a:buSzPts val="1400"/>
              <a:buFont typeface="Arial"/>
              <a:buChar char="●"/>
            </a:pPr>
            <a:r>
              <a:rPr b="1" lang="en" sz="1400">
                <a:solidFill>
                  <a:schemeClr val="dk1"/>
                </a:solidFill>
                <a:latin typeface="Arial"/>
                <a:ea typeface="Arial"/>
                <a:cs typeface="Arial"/>
                <a:sym typeface="Arial"/>
              </a:rPr>
              <a:t>Performance Optimization:</a:t>
            </a:r>
            <a:r>
              <a:rPr lang="en" sz="1400">
                <a:solidFill>
                  <a:schemeClr val="dk1"/>
                </a:solidFill>
                <a:latin typeface="Arial"/>
                <a:ea typeface="Arial"/>
                <a:cs typeface="Arial"/>
                <a:sym typeface="Arial"/>
              </a:rPr>
              <a:t> Refactoring high-volume LINQ queries to perform MIN/MAX aggregations at the SQL level, preventing server memory bottlenecks.</a:t>
            </a:r>
            <a:endParaRPr sz="1400">
              <a:solidFill>
                <a:schemeClr val="dk1"/>
              </a:solidFill>
              <a:latin typeface="Arial"/>
              <a:ea typeface="Arial"/>
              <a:cs typeface="Arial"/>
              <a:sym typeface="Arial"/>
            </a:endParaRPr>
          </a:p>
          <a:p>
            <a:pPr indent="-317500" lvl="0" marL="457200" rtl="0" algn="l">
              <a:spcBef>
                <a:spcPts val="0"/>
              </a:spcBef>
              <a:spcAft>
                <a:spcPts val="0"/>
              </a:spcAft>
              <a:buClr>
                <a:schemeClr val="dk1"/>
              </a:buClr>
              <a:buSzPts val="1400"/>
              <a:buFont typeface="Arial"/>
              <a:buChar char="●"/>
            </a:pPr>
            <a:r>
              <a:rPr b="1" lang="en" sz="1400">
                <a:solidFill>
                  <a:schemeClr val="dk1"/>
                </a:solidFill>
                <a:latin typeface="Arial"/>
                <a:ea typeface="Arial"/>
                <a:cs typeface="Arial"/>
                <a:sym typeface="Arial"/>
              </a:rPr>
              <a:t>Authentication Hardening:</a:t>
            </a:r>
            <a:r>
              <a:rPr lang="en" sz="1400">
                <a:solidFill>
                  <a:schemeClr val="dk1"/>
                </a:solidFill>
                <a:latin typeface="Arial"/>
                <a:ea typeface="Arial"/>
                <a:cs typeface="Arial"/>
                <a:sym typeface="Arial"/>
              </a:rPr>
              <a:t> Migrating the custom in-memory HTTP Session state to a Distributed Cache or Cookie Authentication for multi-server reliability.</a:t>
            </a:r>
            <a:endParaRPr sz="1400">
              <a:solidFill>
                <a:schemeClr val="dk1"/>
              </a:solidFill>
              <a:latin typeface="Arial"/>
              <a:ea typeface="Arial"/>
              <a:cs typeface="Arial"/>
              <a:sym typeface="Arial"/>
            </a:endParaRPr>
          </a:p>
          <a:p>
            <a:pPr indent="-298450" lvl="0" marL="457200" rtl="0" algn="l">
              <a:spcBef>
                <a:spcPts val="0"/>
              </a:spcBef>
              <a:spcAft>
                <a:spcPts val="0"/>
              </a:spcAft>
              <a:buClr>
                <a:schemeClr val="dk1"/>
              </a:buClr>
              <a:buSzPts val="1100"/>
              <a:buFont typeface="Arial"/>
              <a:buChar char="●"/>
            </a:pPr>
            <a:r>
              <a:rPr b="1" lang="en" sz="1400">
                <a:solidFill>
                  <a:schemeClr val="dk1"/>
                </a:solidFill>
                <a:latin typeface="Arial"/>
                <a:ea typeface="Arial"/>
                <a:cs typeface="Arial"/>
                <a:sym typeface="Arial"/>
              </a:rPr>
              <a:t>Production Readiness:</a:t>
            </a:r>
            <a:r>
              <a:rPr lang="en" sz="1400">
                <a:solidFill>
                  <a:schemeClr val="dk1"/>
                </a:solidFill>
                <a:latin typeface="Arial"/>
                <a:ea typeface="Arial"/>
                <a:cs typeface="Arial"/>
                <a:sym typeface="Arial"/>
              </a:rPr>
              <a:t> Stripping out development bypass flags (e.g., URL query-string auto-logins) to lock down the application before final hand-off to Leidos QTC.</a:t>
            </a:r>
            <a:br>
              <a:rPr i="1" lang="en" sz="1100">
                <a:solidFill>
                  <a:schemeClr val="dk1"/>
                </a:solidFill>
                <a:latin typeface="Arial"/>
                <a:ea typeface="Arial"/>
                <a:cs typeface="Arial"/>
                <a:sym typeface="Arial"/>
              </a:rPr>
            </a:br>
            <a:endParaRPr sz="1300">
              <a:solidFill>
                <a:schemeClr val="dk1"/>
              </a:solidFill>
            </a:endParaRPr>
          </a:p>
        </p:txBody>
      </p:sp>
      <p:sp>
        <p:nvSpPr>
          <p:cNvPr id="278" name="Google Shape;278;p38"/>
          <p:cNvSpPr txBox="1"/>
          <p:nvPr/>
        </p:nvSpPr>
        <p:spPr>
          <a:xfrm>
            <a:off x="7494475" y="133875"/>
            <a:ext cx="14562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Slok Patel</a:t>
            </a:r>
            <a:endParaRPr sz="1500">
              <a:solidFill>
                <a:schemeClr val="lt2"/>
              </a:solidFill>
              <a:latin typeface="Source Sans Pro"/>
              <a:ea typeface="Source Sans Pro"/>
              <a:cs typeface="Source Sans Pro"/>
              <a:sym typeface="Source Sans Pro"/>
            </a:endParaRPr>
          </a:p>
        </p:txBody>
      </p:sp>
      <p:pic>
        <p:nvPicPr>
          <p:cNvPr id="279" name="Google Shape;279;p38"/>
          <p:cNvPicPr preferRelativeResize="0"/>
          <p:nvPr/>
        </p:nvPicPr>
        <p:blipFill>
          <a:blip r:embed="rId3">
            <a:alphaModFix/>
          </a:blip>
          <a:stretch>
            <a:fillRect/>
          </a:stretch>
        </p:blipFill>
        <p:spPr>
          <a:xfrm>
            <a:off x="6492500" y="911312"/>
            <a:ext cx="2419125" cy="2183363"/>
          </a:xfrm>
          <a:prstGeom prst="rect">
            <a:avLst/>
          </a:prstGeom>
          <a:noFill/>
          <a:ln>
            <a:noFill/>
          </a:ln>
        </p:spPr>
      </p:pic>
      <p:pic>
        <p:nvPicPr>
          <p:cNvPr id="280" name="Google Shape;280;p38"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type="title"/>
          </p:nvPr>
        </p:nvSpPr>
        <p:spPr>
          <a:xfrm>
            <a:off x="311700" y="-82050"/>
            <a:ext cx="8520600" cy="893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Spring </a:t>
            </a:r>
            <a:r>
              <a:rPr lang="en"/>
              <a:t>Milestones</a:t>
            </a:r>
            <a:endParaRPr/>
          </a:p>
        </p:txBody>
      </p:sp>
      <p:sp>
        <p:nvSpPr>
          <p:cNvPr id="286" name="Google Shape;286;p39"/>
          <p:cNvSpPr txBox="1"/>
          <p:nvPr>
            <p:ph idx="1" type="body"/>
          </p:nvPr>
        </p:nvSpPr>
        <p:spPr>
          <a:xfrm>
            <a:off x="311700" y="416175"/>
            <a:ext cx="4014000" cy="46269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chemeClr val="dk2"/>
                </a:solidFill>
                <a:latin typeface="Arial"/>
                <a:ea typeface="Arial"/>
                <a:cs typeface="Arial"/>
                <a:sym typeface="Arial"/>
              </a:rPr>
              <a:t>🚀 Workflow System</a:t>
            </a:r>
            <a:endParaRPr b="1" sz="13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End-to-end workflow execution</a:t>
            </a:r>
            <a:endParaRPr sz="1100">
              <a:solidFill>
                <a:schemeClr val="dk2"/>
              </a:solidFill>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Create → Manage → Execute</a:t>
            </a:r>
            <a:endParaRPr sz="1100">
              <a:solidFill>
                <a:schemeClr val="dk2"/>
              </a:solidFill>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Step sequencing validated</a:t>
            </a:r>
            <a:endParaRPr sz="1100">
              <a:solidFill>
                <a:schemeClr val="dk2"/>
              </a:solidFill>
              <a:latin typeface="Arial"/>
              <a:ea typeface="Arial"/>
              <a:cs typeface="Arial"/>
              <a:sym typeface="Arial"/>
            </a:endParaRPr>
          </a:p>
          <a:p>
            <a:pPr indent="0" lvl="0" marL="0" rtl="0" algn="l">
              <a:spcBef>
                <a:spcPts val="1400"/>
              </a:spcBef>
              <a:spcAft>
                <a:spcPts val="0"/>
              </a:spcAft>
              <a:buNone/>
            </a:pPr>
            <a:r>
              <a:rPr b="1" lang="en" sz="1300">
                <a:solidFill>
                  <a:schemeClr val="dk2"/>
                </a:solidFill>
                <a:latin typeface="Arial"/>
                <a:ea typeface="Arial"/>
                <a:cs typeface="Arial"/>
                <a:sym typeface="Arial"/>
              </a:rPr>
              <a:t>🔐 Security &amp; Access</a:t>
            </a:r>
            <a:endParaRPr b="1" sz="13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Login system (username/password)</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Role-Based Access Control (RBAC)</a:t>
            </a:r>
            <a:endParaRPr sz="1100">
              <a:solidFill>
                <a:schemeClr val="dk2"/>
              </a:solidFill>
              <a:latin typeface="Arial"/>
              <a:ea typeface="Arial"/>
              <a:cs typeface="Arial"/>
              <a:sym typeface="Arial"/>
            </a:endParaRPr>
          </a:p>
          <a:p>
            <a:pPr indent="0" lvl="0" marL="0" rtl="0" algn="l">
              <a:spcBef>
                <a:spcPts val="1400"/>
              </a:spcBef>
              <a:spcAft>
                <a:spcPts val="0"/>
              </a:spcAft>
              <a:buNone/>
            </a:pPr>
            <a:r>
              <a:rPr b="1" lang="en" sz="1300">
                <a:solidFill>
                  <a:schemeClr val="dk2"/>
                </a:solidFill>
                <a:latin typeface="Arial"/>
                <a:ea typeface="Arial"/>
                <a:cs typeface="Arial"/>
                <a:sym typeface="Arial"/>
              </a:rPr>
              <a:t>🖥️ User Interface</a:t>
            </a:r>
            <a:endParaRPr b="1" sz="13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Workflow dashboard with table view</a:t>
            </a:r>
            <a:endParaRPr sz="1100">
              <a:solidFill>
                <a:schemeClr val="dk2"/>
              </a:solidFill>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Displays name, status, steps, metadata</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Built-in search &amp; sorting</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Action controls</a:t>
            </a:r>
            <a:endParaRPr sz="1100">
              <a:solidFill>
                <a:schemeClr val="dk2"/>
              </a:solidFill>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View, Edit, Delete workflows</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Detailed workflow view with step management</a:t>
            </a:r>
            <a:endParaRPr sz="1100">
              <a:solidFill>
                <a:schemeClr val="dk2"/>
              </a:solidFill>
              <a:latin typeface="Arial"/>
              <a:ea typeface="Arial"/>
              <a:cs typeface="Arial"/>
              <a:sym typeface="Arial"/>
            </a:endParaRPr>
          </a:p>
          <a:p>
            <a:pPr indent="0" lvl="0" marL="0" rtl="0" algn="l">
              <a:spcBef>
                <a:spcPts val="1400"/>
              </a:spcBef>
              <a:spcAft>
                <a:spcPts val="0"/>
              </a:spcAft>
              <a:buNone/>
            </a:pPr>
            <a:r>
              <a:rPr b="1" lang="en" sz="1300">
                <a:solidFill>
                  <a:schemeClr val="dk2"/>
                </a:solidFill>
                <a:latin typeface="Arial"/>
                <a:ea typeface="Arial"/>
                <a:cs typeface="Arial"/>
                <a:sym typeface="Arial"/>
              </a:rPr>
              <a:t>⚙️ Performance &amp; Monitoring</a:t>
            </a:r>
            <a:endParaRPr b="1" sz="13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Optimized APIs for fast performance</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System monitoring &amp; alerts</a:t>
            </a:r>
            <a:endParaRPr sz="1100">
              <a:solidFill>
                <a:schemeClr val="dk2"/>
              </a:solidFill>
              <a:latin typeface="Arial"/>
              <a:ea typeface="Arial"/>
              <a:cs typeface="Arial"/>
              <a:sym typeface="Arial"/>
            </a:endParaRPr>
          </a:p>
          <a:p>
            <a:pPr indent="0" lvl="0" marL="0" rtl="0" algn="l">
              <a:spcBef>
                <a:spcPts val="1200"/>
              </a:spcBef>
              <a:spcAft>
                <a:spcPts val="0"/>
              </a:spcAft>
              <a:buNone/>
            </a:pPr>
            <a:r>
              <a:t/>
            </a:r>
            <a:endParaRPr sz="1100">
              <a:solidFill>
                <a:schemeClr val="dk2"/>
              </a:solidFill>
              <a:latin typeface="Arial"/>
              <a:ea typeface="Arial"/>
              <a:cs typeface="Arial"/>
              <a:sym typeface="Arial"/>
            </a:endParaRPr>
          </a:p>
          <a:p>
            <a:pPr indent="0" lvl="0" marL="0" rtl="0" algn="l">
              <a:spcBef>
                <a:spcPts val="1400"/>
              </a:spcBef>
              <a:spcAft>
                <a:spcPts val="0"/>
              </a:spcAft>
              <a:buNone/>
            </a:pPr>
            <a:r>
              <a:rPr b="1" lang="en" sz="1300">
                <a:solidFill>
                  <a:schemeClr val="dk2"/>
                </a:solidFill>
                <a:latin typeface="Arial"/>
                <a:ea typeface="Arial"/>
                <a:cs typeface="Arial"/>
                <a:sym typeface="Arial"/>
              </a:rPr>
              <a:t>📊 Reporting</a:t>
            </a:r>
            <a:endParaRPr b="1" sz="13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Export reports (CSV/PDF)</a:t>
            </a:r>
            <a:endParaRPr sz="1100">
              <a:solidFill>
                <a:schemeClr val="dk2"/>
              </a:solidFill>
              <a:latin typeface="Arial"/>
              <a:ea typeface="Arial"/>
              <a:cs typeface="Arial"/>
              <a:sym typeface="Arial"/>
            </a:endParaRPr>
          </a:p>
          <a:p>
            <a:pPr indent="-285750" lvl="1" marL="914400" rtl="0" algn="l">
              <a:spcBef>
                <a:spcPts val="0"/>
              </a:spcBef>
              <a:spcAft>
                <a:spcPts val="0"/>
              </a:spcAft>
              <a:buClr>
                <a:schemeClr val="dk2"/>
              </a:buClr>
              <a:buSzPts val="900"/>
              <a:buFont typeface="Arial"/>
              <a:buChar char="○"/>
            </a:pPr>
            <a:r>
              <a:t/>
            </a:r>
            <a:endParaRPr b="1" sz="900">
              <a:solidFill>
                <a:schemeClr val="dk2"/>
              </a:solidFill>
              <a:latin typeface="Arial"/>
              <a:ea typeface="Arial"/>
              <a:cs typeface="Arial"/>
              <a:sym typeface="Arial"/>
            </a:endParaRPr>
          </a:p>
        </p:txBody>
      </p:sp>
      <p:sp>
        <p:nvSpPr>
          <p:cNvPr id="287" name="Google Shape;287;p39"/>
          <p:cNvSpPr txBox="1"/>
          <p:nvPr/>
        </p:nvSpPr>
        <p:spPr>
          <a:xfrm>
            <a:off x="7797900" y="240475"/>
            <a:ext cx="10344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Slok Patel</a:t>
            </a:r>
            <a:endParaRPr sz="1500">
              <a:solidFill>
                <a:schemeClr val="lt2"/>
              </a:solidFill>
              <a:latin typeface="Source Sans Pro"/>
              <a:ea typeface="Source Sans Pro"/>
              <a:cs typeface="Source Sans Pro"/>
              <a:sym typeface="Source Sans Pro"/>
            </a:endParaRPr>
          </a:p>
        </p:txBody>
      </p:sp>
      <p:pic>
        <p:nvPicPr>
          <p:cNvPr id="288" name="Google Shape;288;p39"/>
          <p:cNvPicPr preferRelativeResize="0"/>
          <p:nvPr/>
        </p:nvPicPr>
        <p:blipFill>
          <a:blip r:embed="rId3">
            <a:alphaModFix/>
          </a:blip>
          <a:stretch>
            <a:fillRect/>
          </a:stretch>
        </p:blipFill>
        <p:spPr>
          <a:xfrm>
            <a:off x="6255913" y="569788"/>
            <a:ext cx="2143125" cy="2143125"/>
          </a:xfrm>
          <a:prstGeom prst="rect">
            <a:avLst/>
          </a:prstGeom>
          <a:noFill/>
          <a:ln>
            <a:noFill/>
          </a:ln>
        </p:spPr>
      </p:pic>
      <p:pic>
        <p:nvPicPr>
          <p:cNvPr id="289" name="Google Shape;289;p39"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pic>
        <p:nvPicPr>
          <p:cNvPr id="290" name="Google Shape;290;p39" title="Screenshot 2026-04-28 211139.png"/>
          <p:cNvPicPr preferRelativeResize="0"/>
          <p:nvPr/>
        </p:nvPicPr>
        <p:blipFill>
          <a:blip r:embed="rId5">
            <a:alphaModFix/>
          </a:blip>
          <a:stretch>
            <a:fillRect/>
          </a:stretch>
        </p:blipFill>
        <p:spPr>
          <a:xfrm>
            <a:off x="4572000" y="2694950"/>
            <a:ext cx="3225899" cy="232999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311700" y="-96725"/>
            <a:ext cx="8520600" cy="907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Spring Milestones Cont.</a:t>
            </a:r>
            <a:endParaRPr/>
          </a:p>
        </p:txBody>
      </p:sp>
      <p:sp>
        <p:nvSpPr>
          <p:cNvPr id="296" name="Google Shape;296;p40"/>
          <p:cNvSpPr txBox="1"/>
          <p:nvPr>
            <p:ph idx="1" type="body"/>
          </p:nvPr>
        </p:nvSpPr>
        <p:spPr>
          <a:xfrm>
            <a:off x="311700" y="383925"/>
            <a:ext cx="4260300" cy="47595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200">
                <a:solidFill>
                  <a:schemeClr val="dk2"/>
                </a:solidFill>
                <a:latin typeface="Arial"/>
                <a:ea typeface="Arial"/>
                <a:cs typeface="Arial"/>
                <a:sym typeface="Arial"/>
              </a:rPr>
              <a:t>💡 Business Impact</a:t>
            </a:r>
            <a:endParaRPr b="1" sz="1200">
              <a:solidFill>
                <a:schemeClr val="dk2"/>
              </a:solidFill>
              <a:latin typeface="Arial"/>
              <a:ea typeface="Arial"/>
              <a:cs typeface="Arial"/>
              <a:sym typeface="Arial"/>
            </a:endParaRPr>
          </a:p>
          <a:p>
            <a:pPr indent="-292100" lvl="0" marL="457200" rtl="0" algn="l">
              <a:spcBef>
                <a:spcPts val="1200"/>
              </a:spcBef>
              <a:spcAft>
                <a:spcPts val="0"/>
              </a:spcAft>
              <a:buClr>
                <a:schemeClr val="dk2"/>
              </a:buClr>
              <a:buSzPts val="1000"/>
              <a:buFont typeface="Arial"/>
              <a:buChar char="●"/>
            </a:pPr>
            <a:r>
              <a:rPr lang="en" sz="1000">
                <a:solidFill>
                  <a:schemeClr val="dk2"/>
                </a:solidFill>
                <a:latin typeface="Arial"/>
                <a:ea typeface="Arial"/>
                <a:cs typeface="Arial"/>
                <a:sym typeface="Arial"/>
              </a:rPr>
              <a:t>Eliminated manual SQL configuration</a:t>
            </a:r>
            <a:endParaRPr sz="1000">
              <a:solidFill>
                <a:schemeClr val="dk2"/>
              </a:solidFill>
              <a:latin typeface="Arial"/>
              <a:ea typeface="Arial"/>
              <a:cs typeface="Arial"/>
              <a:sym typeface="Arial"/>
            </a:endParaRPr>
          </a:p>
          <a:p>
            <a:pPr indent="-292100" lvl="1" marL="914400" rtl="0" algn="l">
              <a:spcBef>
                <a:spcPts val="0"/>
              </a:spcBef>
              <a:spcAft>
                <a:spcPts val="0"/>
              </a:spcAft>
              <a:buClr>
                <a:schemeClr val="dk2"/>
              </a:buClr>
              <a:buSzPts val="1000"/>
              <a:buFont typeface="Arial"/>
              <a:buChar char="○"/>
            </a:pPr>
            <a:r>
              <a:rPr lang="en" sz="1000">
                <a:solidFill>
                  <a:schemeClr val="dk2"/>
                </a:solidFill>
                <a:latin typeface="Arial"/>
                <a:ea typeface="Arial"/>
                <a:cs typeface="Arial"/>
                <a:sym typeface="Arial"/>
              </a:rPr>
              <a:t>Workflows managed directly through UI</a:t>
            </a:r>
            <a:endParaRPr sz="1000">
              <a:solidFill>
                <a:schemeClr val="dk2"/>
              </a:solidFill>
              <a:latin typeface="Arial"/>
              <a:ea typeface="Arial"/>
              <a:cs typeface="Arial"/>
              <a:sym typeface="Arial"/>
            </a:endParaRPr>
          </a:p>
          <a:p>
            <a:pPr indent="-292100" lvl="0" marL="457200" rtl="0" algn="l">
              <a:spcBef>
                <a:spcPts val="0"/>
              </a:spcBef>
              <a:spcAft>
                <a:spcPts val="0"/>
              </a:spcAft>
              <a:buClr>
                <a:schemeClr val="dk2"/>
              </a:buClr>
              <a:buSzPts val="1000"/>
              <a:buFont typeface="Arial"/>
              <a:buChar char="●"/>
            </a:pPr>
            <a:r>
              <a:rPr lang="en" sz="1000">
                <a:solidFill>
                  <a:schemeClr val="dk2"/>
                </a:solidFill>
                <a:latin typeface="Arial"/>
                <a:ea typeface="Arial"/>
                <a:cs typeface="Arial"/>
                <a:sym typeface="Arial"/>
              </a:rPr>
              <a:t>Improved security</a:t>
            </a:r>
            <a:endParaRPr sz="1000">
              <a:solidFill>
                <a:schemeClr val="dk2"/>
              </a:solidFill>
              <a:latin typeface="Arial"/>
              <a:ea typeface="Arial"/>
              <a:cs typeface="Arial"/>
              <a:sym typeface="Arial"/>
            </a:endParaRPr>
          </a:p>
          <a:p>
            <a:pPr indent="-292100" lvl="1" marL="914400" rtl="0" algn="l">
              <a:spcBef>
                <a:spcPts val="0"/>
              </a:spcBef>
              <a:spcAft>
                <a:spcPts val="0"/>
              </a:spcAft>
              <a:buClr>
                <a:schemeClr val="dk2"/>
              </a:buClr>
              <a:buSzPts val="1000"/>
              <a:buFont typeface="Arial"/>
              <a:buChar char="○"/>
            </a:pPr>
            <a:r>
              <a:rPr lang="en" sz="1000">
                <a:solidFill>
                  <a:schemeClr val="dk2"/>
                </a:solidFill>
                <a:latin typeface="Arial"/>
                <a:ea typeface="Arial"/>
                <a:cs typeface="Arial"/>
                <a:sym typeface="Arial"/>
              </a:rPr>
              <a:t>Authentication + RBAC</a:t>
            </a:r>
            <a:endParaRPr sz="1000">
              <a:solidFill>
                <a:schemeClr val="dk2"/>
              </a:solidFill>
              <a:latin typeface="Arial"/>
              <a:ea typeface="Arial"/>
              <a:cs typeface="Arial"/>
              <a:sym typeface="Arial"/>
            </a:endParaRPr>
          </a:p>
          <a:p>
            <a:pPr indent="-292100" lvl="0" marL="457200" rtl="0" algn="l">
              <a:spcBef>
                <a:spcPts val="0"/>
              </a:spcBef>
              <a:spcAft>
                <a:spcPts val="0"/>
              </a:spcAft>
              <a:buClr>
                <a:schemeClr val="dk2"/>
              </a:buClr>
              <a:buSzPts val="1000"/>
              <a:buFont typeface="Arial"/>
              <a:buChar char="●"/>
            </a:pPr>
            <a:r>
              <a:rPr lang="en" sz="1000">
                <a:solidFill>
                  <a:schemeClr val="dk2"/>
                </a:solidFill>
                <a:latin typeface="Arial"/>
                <a:ea typeface="Arial"/>
                <a:cs typeface="Arial"/>
                <a:sym typeface="Arial"/>
              </a:rPr>
              <a:t>Increased efficiency</a:t>
            </a:r>
            <a:endParaRPr sz="1000">
              <a:solidFill>
                <a:schemeClr val="dk2"/>
              </a:solidFill>
              <a:latin typeface="Arial"/>
              <a:ea typeface="Arial"/>
              <a:cs typeface="Arial"/>
              <a:sym typeface="Arial"/>
            </a:endParaRPr>
          </a:p>
          <a:p>
            <a:pPr indent="-292100" lvl="1" marL="914400" rtl="0" algn="l">
              <a:spcBef>
                <a:spcPts val="0"/>
              </a:spcBef>
              <a:spcAft>
                <a:spcPts val="0"/>
              </a:spcAft>
              <a:buClr>
                <a:schemeClr val="dk2"/>
              </a:buClr>
              <a:buSzPts val="1000"/>
              <a:buFont typeface="Arial"/>
              <a:buChar char="○"/>
            </a:pPr>
            <a:r>
              <a:rPr lang="en" sz="1000">
                <a:solidFill>
                  <a:schemeClr val="dk2"/>
                </a:solidFill>
                <a:latin typeface="Arial"/>
                <a:ea typeface="Arial"/>
                <a:cs typeface="Arial"/>
                <a:sym typeface="Arial"/>
              </a:rPr>
              <a:t>Faster search, editing, reporting</a:t>
            </a:r>
            <a:endParaRPr sz="1000">
              <a:solidFill>
                <a:schemeClr val="dk2"/>
              </a:solidFill>
              <a:latin typeface="Arial"/>
              <a:ea typeface="Arial"/>
              <a:cs typeface="Arial"/>
              <a:sym typeface="Arial"/>
            </a:endParaRPr>
          </a:p>
          <a:p>
            <a:pPr indent="-292100" lvl="0" marL="457200" rtl="0" algn="l">
              <a:spcBef>
                <a:spcPts val="0"/>
              </a:spcBef>
              <a:spcAft>
                <a:spcPts val="0"/>
              </a:spcAft>
              <a:buClr>
                <a:schemeClr val="dk2"/>
              </a:buClr>
              <a:buSzPts val="1000"/>
              <a:buFont typeface="Arial"/>
              <a:buChar char="●"/>
            </a:pPr>
            <a:r>
              <a:rPr lang="en" sz="1000">
                <a:solidFill>
                  <a:schemeClr val="dk2"/>
                </a:solidFill>
                <a:latin typeface="Arial"/>
                <a:ea typeface="Arial"/>
                <a:cs typeface="Arial"/>
                <a:sym typeface="Arial"/>
              </a:rPr>
              <a:t>Provides high-level insights for stakeholders</a:t>
            </a:r>
            <a:endParaRPr sz="1000">
              <a:solidFill>
                <a:schemeClr val="dk2"/>
              </a:solidFill>
              <a:latin typeface="Arial"/>
              <a:ea typeface="Arial"/>
              <a:cs typeface="Arial"/>
              <a:sym typeface="Arial"/>
            </a:endParaRPr>
          </a:p>
          <a:p>
            <a:pPr indent="-292100" lvl="1" marL="914400" rtl="0" algn="l">
              <a:spcBef>
                <a:spcPts val="0"/>
              </a:spcBef>
              <a:spcAft>
                <a:spcPts val="0"/>
              </a:spcAft>
              <a:buClr>
                <a:schemeClr val="dk2"/>
              </a:buClr>
              <a:buSzPts val="1000"/>
              <a:buFont typeface="Arial"/>
              <a:buChar char="○"/>
            </a:pPr>
            <a:r>
              <a:rPr lang="en" sz="1000">
                <a:solidFill>
                  <a:schemeClr val="dk2"/>
                </a:solidFill>
                <a:latin typeface="Arial"/>
                <a:ea typeface="Arial"/>
                <a:cs typeface="Arial"/>
                <a:sym typeface="Arial"/>
              </a:rPr>
              <a:t>Investor dashboard with metrics &amp; trends</a:t>
            </a:r>
            <a:endParaRPr b="1" sz="1100">
              <a:solidFill>
                <a:schemeClr val="dk2"/>
              </a:solidFill>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100">
                <a:solidFill>
                  <a:schemeClr val="dk2"/>
                </a:solidFill>
                <a:latin typeface="Arial"/>
                <a:ea typeface="Arial"/>
                <a:cs typeface="Arial"/>
                <a:sym typeface="Arial"/>
              </a:rPr>
              <a:t>🖥️ Real System Usage</a:t>
            </a:r>
            <a:endParaRPr b="1" sz="1100">
              <a:solidFill>
                <a:schemeClr val="dk2"/>
              </a:solidFill>
              <a:latin typeface="Arial"/>
              <a:ea typeface="Arial"/>
              <a:cs typeface="Arial"/>
              <a:sym typeface="Arial"/>
            </a:endParaRPr>
          </a:p>
          <a:p>
            <a:pPr indent="-285750" lvl="0" marL="457200" rtl="0" algn="l">
              <a:spcBef>
                <a:spcPts val="1200"/>
              </a:spcBef>
              <a:spcAft>
                <a:spcPts val="0"/>
              </a:spcAft>
              <a:buClr>
                <a:schemeClr val="dk2"/>
              </a:buClr>
              <a:buSzPts val="900"/>
              <a:buFont typeface="Arial"/>
              <a:buChar char="●"/>
            </a:pPr>
            <a:r>
              <a:rPr lang="en" sz="900">
                <a:solidFill>
                  <a:schemeClr val="dk2"/>
                </a:solidFill>
                <a:latin typeface="Arial"/>
                <a:ea typeface="Arial"/>
                <a:cs typeface="Arial"/>
                <a:sym typeface="Arial"/>
              </a:rPr>
              <a:t>Centralized workflow dashboard</a:t>
            </a:r>
            <a:endParaRPr sz="900">
              <a:solidFill>
                <a:schemeClr val="dk2"/>
              </a:solidFill>
              <a:latin typeface="Arial"/>
              <a:ea typeface="Arial"/>
              <a:cs typeface="Arial"/>
              <a:sym typeface="Arial"/>
            </a:endParaRPr>
          </a:p>
          <a:p>
            <a:pPr indent="-285750" lvl="1" marL="9144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Structured table view of workflows</a:t>
            </a:r>
            <a:endParaRPr sz="900">
              <a:solidFill>
                <a:schemeClr val="dk2"/>
              </a:solidFill>
              <a:latin typeface="Arial"/>
              <a:ea typeface="Arial"/>
              <a:cs typeface="Arial"/>
              <a:sym typeface="Arial"/>
            </a:endParaRPr>
          </a:p>
          <a:p>
            <a:pPr indent="-285750" lvl="0" marL="4572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Interactive controls</a:t>
            </a:r>
            <a:endParaRPr sz="900">
              <a:solidFill>
                <a:schemeClr val="dk2"/>
              </a:solidFill>
              <a:latin typeface="Arial"/>
              <a:ea typeface="Arial"/>
              <a:cs typeface="Arial"/>
              <a:sym typeface="Arial"/>
            </a:endParaRPr>
          </a:p>
          <a:p>
            <a:pPr indent="-285750" lvl="1" marL="9144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Edit, view, manage steps</a:t>
            </a:r>
            <a:endParaRPr sz="900">
              <a:solidFill>
                <a:schemeClr val="dk2"/>
              </a:solidFill>
              <a:latin typeface="Arial"/>
              <a:ea typeface="Arial"/>
              <a:cs typeface="Arial"/>
              <a:sym typeface="Arial"/>
            </a:endParaRPr>
          </a:p>
          <a:p>
            <a:pPr indent="-285750" lvl="0" marL="4572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Detailed workflow pages</a:t>
            </a:r>
            <a:endParaRPr sz="900">
              <a:solidFill>
                <a:schemeClr val="dk2"/>
              </a:solidFill>
              <a:latin typeface="Arial"/>
              <a:ea typeface="Arial"/>
              <a:cs typeface="Arial"/>
              <a:sym typeface="Arial"/>
            </a:endParaRPr>
          </a:p>
          <a:p>
            <a:pPr indent="-285750" lvl="1" marL="9144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Full configuration visibility</a:t>
            </a:r>
            <a:endParaRPr sz="900">
              <a:solidFill>
                <a:schemeClr val="dk2"/>
              </a:solidFill>
              <a:latin typeface="Arial"/>
              <a:ea typeface="Arial"/>
              <a:cs typeface="Arial"/>
              <a:sym typeface="Arial"/>
            </a:endParaRPr>
          </a:p>
          <a:p>
            <a:pPr indent="-285750" lvl="0" marL="4572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Real-time data</a:t>
            </a:r>
            <a:endParaRPr sz="900">
              <a:solidFill>
                <a:schemeClr val="dk2"/>
              </a:solidFill>
              <a:latin typeface="Arial"/>
              <a:ea typeface="Arial"/>
              <a:cs typeface="Arial"/>
              <a:sym typeface="Arial"/>
            </a:endParaRPr>
          </a:p>
          <a:p>
            <a:pPr indent="-285750" lvl="1" marL="9144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Live backend integration</a:t>
            </a:r>
            <a:endParaRPr sz="900">
              <a:solidFill>
                <a:schemeClr val="dk2"/>
              </a:solidFill>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100">
                <a:solidFill>
                  <a:schemeClr val="dk2"/>
                </a:solidFill>
                <a:latin typeface="Arial"/>
                <a:ea typeface="Arial"/>
                <a:cs typeface="Arial"/>
                <a:sym typeface="Arial"/>
              </a:rPr>
              <a:t>📊 The System &amp; it’s Capabilities</a:t>
            </a:r>
            <a:endParaRPr b="1" sz="1100">
              <a:solidFill>
                <a:schemeClr val="dk2"/>
              </a:solidFill>
              <a:latin typeface="Arial"/>
              <a:ea typeface="Arial"/>
              <a:cs typeface="Arial"/>
              <a:sym typeface="Arial"/>
            </a:endParaRPr>
          </a:p>
          <a:p>
            <a:pPr indent="-285750" lvl="0" marL="457200" rtl="0" algn="l">
              <a:spcBef>
                <a:spcPts val="1200"/>
              </a:spcBef>
              <a:spcAft>
                <a:spcPts val="0"/>
              </a:spcAft>
              <a:buClr>
                <a:schemeClr val="dk2"/>
              </a:buClr>
              <a:buSzPts val="900"/>
              <a:buFont typeface="Arial"/>
              <a:buChar char="●"/>
            </a:pPr>
            <a:r>
              <a:rPr lang="en" sz="900">
                <a:solidFill>
                  <a:schemeClr val="dk2"/>
                </a:solidFill>
                <a:latin typeface="Arial"/>
                <a:ea typeface="Arial"/>
                <a:cs typeface="Arial"/>
                <a:sym typeface="Arial"/>
              </a:rPr>
              <a:t>Handles high-volume workflows</a:t>
            </a:r>
            <a:endParaRPr sz="900">
              <a:solidFill>
                <a:schemeClr val="dk2"/>
              </a:solidFill>
              <a:latin typeface="Arial"/>
              <a:ea typeface="Arial"/>
              <a:cs typeface="Arial"/>
              <a:sym typeface="Arial"/>
            </a:endParaRPr>
          </a:p>
          <a:p>
            <a:pPr indent="-285750" lvl="0" marL="4572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Real-time visibility</a:t>
            </a:r>
            <a:endParaRPr sz="900">
              <a:solidFill>
                <a:schemeClr val="dk2"/>
              </a:solidFill>
              <a:latin typeface="Arial"/>
              <a:ea typeface="Arial"/>
              <a:cs typeface="Arial"/>
              <a:sym typeface="Arial"/>
            </a:endParaRPr>
          </a:p>
          <a:p>
            <a:pPr indent="-285750" lvl="0" marL="4572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Auditable execution</a:t>
            </a:r>
            <a:endParaRPr sz="900">
              <a:solidFill>
                <a:schemeClr val="dk2"/>
              </a:solidFill>
              <a:latin typeface="Arial"/>
              <a:ea typeface="Arial"/>
              <a:cs typeface="Arial"/>
              <a:sym typeface="Arial"/>
            </a:endParaRPr>
          </a:p>
          <a:p>
            <a:pPr indent="-285750" lvl="0" marL="457200" rtl="0" algn="l">
              <a:spcBef>
                <a:spcPts val="0"/>
              </a:spcBef>
              <a:spcAft>
                <a:spcPts val="0"/>
              </a:spcAft>
              <a:buClr>
                <a:schemeClr val="dk2"/>
              </a:buClr>
              <a:buSzPts val="900"/>
              <a:buFont typeface="Arial"/>
              <a:buChar char="●"/>
            </a:pPr>
            <a:r>
              <a:rPr lang="en" sz="900">
                <a:solidFill>
                  <a:schemeClr val="dk2"/>
                </a:solidFill>
                <a:latin typeface="Arial"/>
                <a:ea typeface="Arial"/>
                <a:cs typeface="Arial"/>
                <a:sym typeface="Arial"/>
              </a:rPr>
              <a:t>Reliable compliance reporting</a:t>
            </a:r>
            <a:endParaRPr sz="900">
              <a:solidFill>
                <a:schemeClr val="dk2"/>
              </a:solidFill>
              <a:latin typeface="Arial"/>
              <a:ea typeface="Arial"/>
              <a:cs typeface="Arial"/>
              <a:sym typeface="Arial"/>
            </a:endParaRPr>
          </a:p>
        </p:txBody>
      </p:sp>
      <p:sp>
        <p:nvSpPr>
          <p:cNvPr id="297" name="Google Shape;297;p40"/>
          <p:cNvSpPr txBox="1"/>
          <p:nvPr/>
        </p:nvSpPr>
        <p:spPr>
          <a:xfrm>
            <a:off x="7797900" y="240475"/>
            <a:ext cx="10344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Slok Patel</a:t>
            </a:r>
            <a:endParaRPr sz="1500">
              <a:solidFill>
                <a:schemeClr val="lt2"/>
              </a:solidFill>
              <a:latin typeface="Source Sans Pro"/>
              <a:ea typeface="Source Sans Pro"/>
              <a:cs typeface="Source Sans Pro"/>
              <a:sym typeface="Source Sans Pro"/>
            </a:endParaRPr>
          </a:p>
        </p:txBody>
      </p:sp>
      <p:pic>
        <p:nvPicPr>
          <p:cNvPr id="298" name="Google Shape;298;p40"/>
          <p:cNvPicPr preferRelativeResize="0"/>
          <p:nvPr/>
        </p:nvPicPr>
        <p:blipFill rotWithShape="1">
          <a:blip r:embed="rId3">
            <a:alphaModFix/>
          </a:blip>
          <a:srcRect b="0" l="5918" r="0" t="0"/>
          <a:stretch/>
        </p:blipFill>
        <p:spPr>
          <a:xfrm>
            <a:off x="6309824" y="2911225"/>
            <a:ext cx="2016250" cy="2143125"/>
          </a:xfrm>
          <a:prstGeom prst="rect">
            <a:avLst/>
          </a:prstGeom>
          <a:noFill/>
          <a:ln>
            <a:noFill/>
          </a:ln>
        </p:spPr>
      </p:pic>
      <p:pic>
        <p:nvPicPr>
          <p:cNvPr id="299" name="Google Shape;299;p40" title="ae03b84b-bb67-44cb-95d5-5a94c9f004af.png.jpg"/>
          <p:cNvPicPr preferRelativeResize="0"/>
          <p:nvPr/>
        </p:nvPicPr>
        <p:blipFill>
          <a:blip r:embed="rId4">
            <a:alphaModFix/>
          </a:blip>
          <a:stretch>
            <a:fillRect/>
          </a:stretch>
        </p:blipFill>
        <p:spPr>
          <a:xfrm>
            <a:off x="8106942" y="4590599"/>
            <a:ext cx="939457" cy="452699"/>
          </a:xfrm>
          <a:prstGeom prst="rect">
            <a:avLst/>
          </a:prstGeom>
          <a:noFill/>
          <a:ln>
            <a:noFill/>
          </a:ln>
        </p:spPr>
      </p:pic>
      <p:pic>
        <p:nvPicPr>
          <p:cNvPr id="300" name="Google Shape;300;p40" title="Screenshot 2026-04-28 211046.png"/>
          <p:cNvPicPr preferRelativeResize="0"/>
          <p:nvPr/>
        </p:nvPicPr>
        <p:blipFill>
          <a:blip r:embed="rId5">
            <a:alphaModFix/>
          </a:blip>
          <a:stretch>
            <a:fillRect/>
          </a:stretch>
        </p:blipFill>
        <p:spPr>
          <a:xfrm>
            <a:off x="4505650" y="710275"/>
            <a:ext cx="3943274" cy="19625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311700" y="139675"/>
            <a:ext cx="8520600" cy="67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Fall Milestones Completed</a:t>
            </a:r>
            <a:endParaRPr/>
          </a:p>
        </p:txBody>
      </p:sp>
      <p:sp>
        <p:nvSpPr>
          <p:cNvPr id="306" name="Google Shape;306;p41"/>
          <p:cNvSpPr txBox="1"/>
          <p:nvPr>
            <p:ph idx="1" type="body"/>
          </p:nvPr>
        </p:nvSpPr>
        <p:spPr>
          <a:xfrm>
            <a:off x="311700" y="944150"/>
            <a:ext cx="5876100" cy="3969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 sz="1400">
                <a:solidFill>
                  <a:schemeClr val="dk1"/>
                </a:solidFill>
              </a:rPr>
              <a:t>Deployed Administrator Portal:</a:t>
            </a:r>
            <a:r>
              <a:rPr lang="en" sz="1400">
                <a:solidFill>
                  <a:schemeClr val="dk1"/>
                </a:solidFill>
              </a:rPr>
              <a:t> Successfully launched the ASP.NET Core 8 MVC frontend with responsive, 508-compliant Razor Views.</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Database-First Integration:</a:t>
            </a:r>
            <a:r>
              <a:rPr lang="en" sz="1400">
                <a:solidFill>
                  <a:schemeClr val="dk1"/>
                </a:solidFill>
              </a:rPr>
              <a:t> Fully integrated Entity Framework Core with the legacy WFQ SQL Server without altering existing schemas.</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Dynamic Workflow Engine:</a:t>
            </a:r>
            <a:r>
              <a:rPr lang="en" sz="1400">
                <a:solidFill>
                  <a:schemeClr val="dk1"/>
                </a:solidFill>
              </a:rPr>
              <a:t> Delivered safe Create/Edit/Delete capabilities for Workflows and Workflow Steps using atomic transactions.</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Task Intervention Logic:</a:t>
            </a:r>
            <a:r>
              <a:rPr lang="en" sz="1400">
                <a:solidFill>
                  <a:schemeClr val="dk1"/>
                </a:solidFill>
              </a:rPr>
              <a:t> Engineered secure backend services allowing administrators to reassign, unassign, and force-complete stuck medical tasks.</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Automated Compliance Reporting:</a:t>
            </a:r>
            <a:r>
              <a:rPr lang="en" sz="1400">
                <a:solidFill>
                  <a:schemeClr val="dk1"/>
                </a:solidFill>
              </a:rPr>
              <a:t> Integrated the QuestPDF library to generate and export heavily formatted, time-stamped Compliance &amp; Performance reports (CSV/PDF).</a:t>
            </a:r>
            <a:endParaRPr sz="1400">
              <a:solidFill>
                <a:schemeClr val="dk1"/>
              </a:solidFill>
            </a:endParaRPr>
          </a:p>
        </p:txBody>
      </p:sp>
      <p:sp>
        <p:nvSpPr>
          <p:cNvPr id="307" name="Google Shape;307;p41"/>
          <p:cNvSpPr txBox="1"/>
          <p:nvPr/>
        </p:nvSpPr>
        <p:spPr>
          <a:xfrm>
            <a:off x="7797900" y="240475"/>
            <a:ext cx="10344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Source Sans Pro"/>
                <a:ea typeface="Source Sans Pro"/>
                <a:cs typeface="Source Sans Pro"/>
                <a:sym typeface="Source Sans Pro"/>
              </a:rPr>
              <a:t>Slok Patel</a:t>
            </a:r>
            <a:endParaRPr sz="1500">
              <a:solidFill>
                <a:schemeClr val="lt2"/>
              </a:solidFill>
              <a:latin typeface="Source Sans Pro"/>
              <a:ea typeface="Source Sans Pro"/>
              <a:cs typeface="Source Sans Pro"/>
              <a:sym typeface="Source Sans Pro"/>
            </a:endParaRPr>
          </a:p>
        </p:txBody>
      </p:sp>
      <p:pic>
        <p:nvPicPr>
          <p:cNvPr id="308" name="Google Shape;308;p41"/>
          <p:cNvPicPr preferRelativeResize="0"/>
          <p:nvPr/>
        </p:nvPicPr>
        <p:blipFill rotWithShape="1">
          <a:blip r:embed="rId3">
            <a:alphaModFix/>
          </a:blip>
          <a:srcRect b="0" l="5918" r="0" t="0"/>
          <a:stretch/>
        </p:blipFill>
        <p:spPr>
          <a:xfrm>
            <a:off x="6309824" y="2911225"/>
            <a:ext cx="2016250" cy="2143125"/>
          </a:xfrm>
          <a:prstGeom prst="rect">
            <a:avLst/>
          </a:prstGeom>
          <a:noFill/>
          <a:ln>
            <a:noFill/>
          </a:ln>
        </p:spPr>
      </p:pic>
      <p:pic>
        <p:nvPicPr>
          <p:cNvPr id="309" name="Google Shape;309;p41"/>
          <p:cNvPicPr preferRelativeResize="0"/>
          <p:nvPr/>
        </p:nvPicPr>
        <p:blipFill>
          <a:blip r:embed="rId4">
            <a:alphaModFix/>
          </a:blip>
          <a:stretch>
            <a:fillRect/>
          </a:stretch>
        </p:blipFill>
        <p:spPr>
          <a:xfrm>
            <a:off x="6748688" y="811063"/>
            <a:ext cx="2143125" cy="2143125"/>
          </a:xfrm>
          <a:prstGeom prst="rect">
            <a:avLst/>
          </a:prstGeom>
          <a:noFill/>
          <a:ln>
            <a:noFill/>
          </a:ln>
        </p:spPr>
      </p:pic>
      <p:pic>
        <p:nvPicPr>
          <p:cNvPr id="310" name="Google Shape;310;p41" title="ae03b84b-bb67-44cb-95d5-5a94c9f004af.png.jpg"/>
          <p:cNvPicPr preferRelativeResize="0"/>
          <p:nvPr/>
        </p:nvPicPr>
        <p:blipFill>
          <a:blip r:embed="rId5">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p42"/>
          <p:cNvSpPr txBox="1"/>
          <p:nvPr>
            <p:ph type="title"/>
          </p:nvPr>
        </p:nvSpPr>
        <p:spPr>
          <a:xfrm>
            <a:off x="311700" y="122125"/>
            <a:ext cx="8520600" cy="7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Challenges &amp; Next Steps</a:t>
            </a:r>
            <a:endParaRPr/>
          </a:p>
        </p:txBody>
      </p:sp>
      <p:sp>
        <p:nvSpPr>
          <p:cNvPr id="316" name="Google Shape;316;p42"/>
          <p:cNvSpPr txBox="1"/>
          <p:nvPr>
            <p:ph idx="1" type="body"/>
          </p:nvPr>
        </p:nvSpPr>
        <p:spPr>
          <a:xfrm>
            <a:off x="311700" y="732775"/>
            <a:ext cx="8559600" cy="430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We c</a:t>
            </a:r>
            <a:r>
              <a:rPr lang="en">
                <a:solidFill>
                  <a:schemeClr val="dk1"/>
                </a:solidFill>
              </a:rPr>
              <a:t>reating and </a:t>
            </a:r>
            <a:r>
              <a:rPr lang="en">
                <a:solidFill>
                  <a:schemeClr val="dk1"/>
                </a:solidFill>
              </a:rPr>
              <a:t>implementing</a:t>
            </a:r>
            <a:r>
              <a:rPr lang="en">
                <a:solidFill>
                  <a:schemeClr val="dk1"/>
                </a:solidFill>
              </a:rPr>
              <a:t> a new user interface based off of the rules and criteria set by the Software Design Document. Including integrating the new UI components  with the backend.</a:t>
            </a:r>
            <a:endParaRPr>
              <a:solidFill>
                <a:schemeClr val="dk1"/>
              </a:solidFill>
            </a:endParaRPr>
          </a:p>
          <a:p>
            <a:pPr indent="0" lvl="0" marL="0" rtl="0" algn="l">
              <a:spcBef>
                <a:spcPts val="1200"/>
              </a:spcBef>
              <a:spcAft>
                <a:spcPts val="0"/>
              </a:spcAft>
              <a:buNone/>
            </a:pPr>
            <a:r>
              <a:rPr lang="en">
                <a:solidFill>
                  <a:schemeClr val="dk1"/>
                </a:solidFill>
              </a:rPr>
              <a:t>Challenges: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Aligning UI components with Leidos branding guidelines and CSS frameworks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Close communication with team to deliver and update versions of the UI.</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Making sure the new UI connects properly with backend logic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r">
              <a:spcBef>
                <a:spcPts val="1200"/>
              </a:spcBef>
              <a:spcAft>
                <a:spcPts val="1200"/>
              </a:spcAft>
              <a:buNone/>
            </a:pPr>
            <a:r>
              <a:t/>
            </a:r>
            <a:endParaRPr>
              <a:solidFill>
                <a:schemeClr val="dk1"/>
              </a:solidFill>
            </a:endParaRPr>
          </a:p>
        </p:txBody>
      </p:sp>
      <p:sp>
        <p:nvSpPr>
          <p:cNvPr id="317" name="Google Shape;317;p42"/>
          <p:cNvSpPr txBox="1"/>
          <p:nvPr/>
        </p:nvSpPr>
        <p:spPr>
          <a:xfrm>
            <a:off x="7271350" y="216075"/>
            <a:ext cx="1560900" cy="45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500">
                <a:solidFill>
                  <a:schemeClr val="lt2"/>
                </a:solidFill>
                <a:latin typeface="Source Sans Pro"/>
                <a:ea typeface="Source Sans Pro"/>
                <a:cs typeface="Source Sans Pro"/>
                <a:sym typeface="Source Sans Pro"/>
              </a:rPr>
              <a:t>Ruben Flores, Alexander Diaz</a:t>
            </a:r>
            <a:endParaRPr sz="1500">
              <a:solidFill>
                <a:schemeClr val="lt2"/>
              </a:solidFill>
              <a:latin typeface="Source Sans Pro"/>
              <a:ea typeface="Source Sans Pro"/>
              <a:cs typeface="Source Sans Pro"/>
              <a:sym typeface="Source Sans Pro"/>
            </a:endParaRPr>
          </a:p>
        </p:txBody>
      </p:sp>
      <p:pic>
        <p:nvPicPr>
          <p:cNvPr id="318" name="Google Shape;318;p42"/>
          <p:cNvPicPr preferRelativeResize="0"/>
          <p:nvPr/>
        </p:nvPicPr>
        <p:blipFill>
          <a:blip r:embed="rId3">
            <a:alphaModFix/>
          </a:blip>
          <a:stretch>
            <a:fillRect/>
          </a:stretch>
        </p:blipFill>
        <p:spPr>
          <a:xfrm>
            <a:off x="817850" y="3359400"/>
            <a:ext cx="2660475" cy="1866300"/>
          </a:xfrm>
          <a:prstGeom prst="rect">
            <a:avLst/>
          </a:prstGeom>
          <a:noFill/>
          <a:ln>
            <a:noFill/>
          </a:ln>
        </p:spPr>
      </p:pic>
      <p:pic>
        <p:nvPicPr>
          <p:cNvPr id="319" name="Google Shape;319;p42"/>
          <p:cNvPicPr preferRelativeResize="0"/>
          <p:nvPr/>
        </p:nvPicPr>
        <p:blipFill>
          <a:blip r:embed="rId4">
            <a:alphaModFix/>
          </a:blip>
          <a:stretch>
            <a:fillRect/>
          </a:stretch>
        </p:blipFill>
        <p:spPr>
          <a:xfrm>
            <a:off x="5405048" y="3359400"/>
            <a:ext cx="1866300" cy="1866300"/>
          </a:xfrm>
          <a:prstGeom prst="rect">
            <a:avLst/>
          </a:prstGeom>
          <a:noFill/>
          <a:ln>
            <a:noFill/>
          </a:ln>
        </p:spPr>
      </p:pic>
      <p:pic>
        <p:nvPicPr>
          <p:cNvPr id="320" name="Google Shape;320;p42" title="ae03b84b-bb67-44cb-95d5-5a94c9f004af.png.jpg"/>
          <p:cNvPicPr preferRelativeResize="0"/>
          <p:nvPr/>
        </p:nvPicPr>
        <p:blipFill>
          <a:blip r:embed="rId5">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3"/>
          <p:cNvSpPr txBox="1"/>
          <p:nvPr>
            <p:ph type="title"/>
          </p:nvPr>
        </p:nvSpPr>
        <p:spPr>
          <a:xfrm>
            <a:off x="311700" y="287400"/>
            <a:ext cx="8520600" cy="730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Outro / Questions</a:t>
            </a:r>
            <a:endParaRPr/>
          </a:p>
        </p:txBody>
      </p:sp>
      <p:sp>
        <p:nvSpPr>
          <p:cNvPr id="326" name="Google Shape;32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In Summary: Our design process and SDD set the foundation for implementing a user interface that meet QTC’s standards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Looking Ahead: We’re now focused on implementing the updated specifications and criteria outlined in the SDD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We welcome any questions, feedback, or suggestions</a:t>
            </a:r>
            <a:endParaRPr>
              <a:solidFill>
                <a:schemeClr val="dk1"/>
              </a:solidFill>
            </a:endParaRPr>
          </a:p>
        </p:txBody>
      </p:sp>
      <p:sp>
        <p:nvSpPr>
          <p:cNvPr id="327" name="Google Shape;327;p43"/>
          <p:cNvSpPr txBox="1"/>
          <p:nvPr/>
        </p:nvSpPr>
        <p:spPr>
          <a:xfrm>
            <a:off x="7153925" y="169100"/>
            <a:ext cx="1608900" cy="4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Alexander Diaz</a:t>
            </a:r>
            <a:endParaRPr sz="1800">
              <a:solidFill>
                <a:schemeClr val="lt2"/>
              </a:solidFill>
              <a:latin typeface="Source Sans Pro"/>
              <a:ea typeface="Source Sans Pro"/>
              <a:cs typeface="Source Sans Pro"/>
              <a:sym typeface="Source Sans Pro"/>
            </a:endParaRPr>
          </a:p>
        </p:txBody>
      </p:sp>
      <p:pic>
        <p:nvPicPr>
          <p:cNvPr id="328" name="Google Shape;328;p43"/>
          <p:cNvPicPr preferRelativeResize="0"/>
          <p:nvPr/>
        </p:nvPicPr>
        <p:blipFill>
          <a:blip r:embed="rId3">
            <a:alphaModFix/>
          </a:blip>
          <a:stretch>
            <a:fillRect/>
          </a:stretch>
        </p:blipFill>
        <p:spPr>
          <a:xfrm>
            <a:off x="6128625" y="2730538"/>
            <a:ext cx="2476500" cy="1838325"/>
          </a:xfrm>
          <a:prstGeom prst="rect">
            <a:avLst/>
          </a:prstGeom>
          <a:noFill/>
          <a:ln>
            <a:noFill/>
          </a:ln>
        </p:spPr>
      </p:pic>
      <p:pic>
        <p:nvPicPr>
          <p:cNvPr id="329" name="Google Shape;329;p43"/>
          <p:cNvPicPr preferRelativeResize="0"/>
          <p:nvPr/>
        </p:nvPicPr>
        <p:blipFill>
          <a:blip r:embed="rId4">
            <a:alphaModFix/>
          </a:blip>
          <a:stretch>
            <a:fillRect/>
          </a:stretch>
        </p:blipFill>
        <p:spPr>
          <a:xfrm>
            <a:off x="660538" y="2939050"/>
            <a:ext cx="2466975" cy="1847850"/>
          </a:xfrm>
          <a:prstGeom prst="rect">
            <a:avLst/>
          </a:prstGeom>
          <a:noFill/>
          <a:ln>
            <a:noFill/>
          </a:ln>
        </p:spPr>
      </p:pic>
      <p:pic>
        <p:nvPicPr>
          <p:cNvPr id="330" name="Google Shape;330;p43" title="ae03b84b-bb67-44cb-95d5-5a94c9f004af.png.jpg"/>
          <p:cNvPicPr preferRelativeResize="0"/>
          <p:nvPr/>
        </p:nvPicPr>
        <p:blipFill>
          <a:blip r:embed="rId5">
            <a:alphaModFix/>
          </a:blip>
          <a:stretch>
            <a:fillRect/>
          </a:stretch>
        </p:blipFill>
        <p:spPr>
          <a:xfrm>
            <a:off x="8106942" y="4590599"/>
            <a:ext cx="939457" cy="4526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txBox="1"/>
          <p:nvPr>
            <p:ph type="title"/>
          </p:nvPr>
        </p:nvSpPr>
        <p:spPr>
          <a:xfrm>
            <a:off x="311700" y="157350"/>
            <a:ext cx="8520600" cy="7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References</a:t>
            </a:r>
            <a:endParaRPr/>
          </a:p>
        </p:txBody>
      </p:sp>
      <p:sp>
        <p:nvSpPr>
          <p:cNvPr id="336" name="Google Shape;336;p44"/>
          <p:cNvSpPr txBox="1"/>
          <p:nvPr>
            <p:ph idx="1" type="body"/>
          </p:nvPr>
        </p:nvSpPr>
        <p:spPr>
          <a:xfrm>
            <a:off x="311700" y="873750"/>
            <a:ext cx="8520600" cy="40632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Microsoft.</a:t>
            </a:r>
            <a:r>
              <a:rPr lang="en" sz="1100">
                <a:solidFill>
                  <a:schemeClr val="dk2"/>
                </a:solidFill>
                <a:latin typeface="Arial"/>
                <a:ea typeface="Arial"/>
                <a:cs typeface="Arial"/>
                <a:sym typeface="Arial"/>
              </a:rPr>
              <a:t> </a:t>
            </a:r>
            <a:r>
              <a:rPr i="1" lang="en" sz="1100">
                <a:solidFill>
                  <a:schemeClr val="dk2"/>
                </a:solidFill>
                <a:latin typeface="Arial"/>
                <a:ea typeface="Arial"/>
                <a:cs typeface="Arial"/>
                <a:sym typeface="Arial"/>
              </a:rPr>
              <a:t>SQL Server 2022 Documentation.</a:t>
            </a:r>
            <a:r>
              <a:rPr lang="en" sz="1100">
                <a:solidFill>
                  <a:schemeClr val="dk2"/>
                </a:solidFill>
                <a:latin typeface="Arial"/>
                <a:ea typeface="Arial"/>
                <a:cs typeface="Arial"/>
                <a:sym typeface="Arial"/>
              </a:rPr>
              <a:t> Microsoft Docs,</a:t>
            </a:r>
            <a:br>
              <a:rPr lang="en" sz="1100">
                <a:solidFill>
                  <a:schemeClr val="dk2"/>
                </a:solidFill>
                <a:latin typeface="Arial"/>
                <a:ea typeface="Arial"/>
                <a:cs typeface="Arial"/>
                <a:sym typeface="Arial"/>
              </a:rPr>
            </a:br>
            <a:r>
              <a:rPr lang="en" sz="1100">
                <a:solidFill>
                  <a:schemeClr val="dk2"/>
                </a:solidFill>
                <a:latin typeface="Arial"/>
                <a:ea typeface="Arial"/>
                <a:cs typeface="Arial"/>
                <a:sym typeface="Arial"/>
              </a:rPr>
              <a:t> https://learn.microsoft.com/sql/.</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Microsoft.</a:t>
            </a:r>
            <a:r>
              <a:rPr lang="en" sz="1100">
                <a:solidFill>
                  <a:schemeClr val="dk2"/>
                </a:solidFill>
                <a:latin typeface="Arial"/>
                <a:ea typeface="Arial"/>
                <a:cs typeface="Arial"/>
                <a:sym typeface="Arial"/>
              </a:rPr>
              <a:t> </a:t>
            </a:r>
            <a:r>
              <a:rPr i="1" lang="en" sz="1100">
                <a:solidFill>
                  <a:schemeClr val="dk2"/>
                </a:solidFill>
                <a:latin typeface="Arial"/>
                <a:ea typeface="Arial"/>
                <a:cs typeface="Arial"/>
                <a:sym typeface="Arial"/>
              </a:rPr>
              <a:t>Internet Information Services (IIS) Overview.</a:t>
            </a:r>
            <a:r>
              <a:rPr lang="en" sz="1100">
                <a:solidFill>
                  <a:schemeClr val="dk2"/>
                </a:solidFill>
                <a:latin typeface="Arial"/>
                <a:ea typeface="Arial"/>
                <a:cs typeface="Arial"/>
                <a:sym typeface="Arial"/>
              </a:rPr>
              <a:t> Microsoft Docs,</a:t>
            </a:r>
            <a:br>
              <a:rPr lang="en" sz="1100">
                <a:solidFill>
                  <a:schemeClr val="dk2"/>
                </a:solidFill>
                <a:latin typeface="Arial"/>
                <a:ea typeface="Arial"/>
                <a:cs typeface="Arial"/>
                <a:sym typeface="Arial"/>
              </a:rPr>
            </a:br>
            <a:r>
              <a:rPr lang="en" sz="1100">
                <a:solidFill>
                  <a:schemeClr val="dk2"/>
                </a:solidFill>
                <a:uFill>
                  <a:noFill/>
                </a:uFill>
                <a:latin typeface="Arial"/>
                <a:ea typeface="Arial"/>
                <a:cs typeface="Arial"/>
                <a:sym typeface="Arial"/>
                <a:hlinkClick r:id="rId3">
                  <a:extLst>
                    <a:ext uri="{A12FA001-AC4F-418D-AE19-62706E023703}">
                      <ahyp:hlinkClr val="tx"/>
                    </a:ext>
                  </a:extLst>
                </a:hlinkClick>
              </a:rPr>
              <a:t> </a:t>
            </a:r>
            <a:r>
              <a:rPr lang="en" sz="1100" u="sng">
                <a:solidFill>
                  <a:schemeClr val="hlink"/>
                </a:solidFill>
                <a:latin typeface="Arial"/>
                <a:ea typeface="Arial"/>
                <a:cs typeface="Arial"/>
                <a:sym typeface="Arial"/>
                <a:hlinkClick r:id="rId4"/>
              </a:rPr>
              <a:t>https://learn.microsoft.com/iis/</a:t>
            </a:r>
            <a:r>
              <a:rPr lang="en" sz="1100">
                <a:solidFill>
                  <a:schemeClr val="dk2"/>
                </a:solidFill>
                <a:latin typeface="Arial"/>
                <a:ea typeface="Arial"/>
                <a:cs typeface="Arial"/>
                <a:sym typeface="Arial"/>
              </a:rPr>
              <a:t>.</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Wikipedia.</a:t>
            </a:r>
            <a:r>
              <a:rPr lang="en" sz="1100">
                <a:solidFill>
                  <a:schemeClr val="dk2"/>
                </a:solidFill>
                <a:latin typeface="Arial"/>
                <a:ea typeface="Arial"/>
                <a:cs typeface="Arial"/>
                <a:sym typeface="Arial"/>
              </a:rPr>
              <a:t> "Microsoft SQL Server." </a:t>
            </a:r>
            <a:r>
              <a:rPr i="1" lang="en" sz="1100">
                <a:solidFill>
                  <a:schemeClr val="dk2"/>
                </a:solidFill>
                <a:latin typeface="Arial"/>
                <a:ea typeface="Arial"/>
                <a:cs typeface="Arial"/>
                <a:sym typeface="Arial"/>
              </a:rPr>
              <a:t>Wikipedia: The Free Encyclopedia</a:t>
            </a:r>
            <a:r>
              <a:rPr lang="en" sz="1100">
                <a:solidFill>
                  <a:schemeClr val="dk2"/>
                </a:solidFill>
                <a:latin typeface="Arial"/>
                <a:ea typeface="Arial"/>
                <a:cs typeface="Arial"/>
                <a:sym typeface="Arial"/>
              </a:rPr>
              <a:t>, Wikimedia Foundation,</a:t>
            </a:r>
            <a:br>
              <a:rPr lang="en" sz="1100">
                <a:solidFill>
                  <a:schemeClr val="dk2"/>
                </a:solidFill>
                <a:latin typeface="Arial"/>
                <a:ea typeface="Arial"/>
                <a:cs typeface="Arial"/>
                <a:sym typeface="Arial"/>
              </a:rPr>
            </a:br>
            <a:r>
              <a:rPr lang="en" sz="1100">
                <a:solidFill>
                  <a:schemeClr val="dk2"/>
                </a:solidFill>
                <a:uFill>
                  <a:noFill/>
                </a:uFill>
                <a:latin typeface="Arial"/>
                <a:ea typeface="Arial"/>
                <a:cs typeface="Arial"/>
                <a:sym typeface="Arial"/>
                <a:hlinkClick r:id="rId5">
                  <a:extLst>
                    <a:ext uri="{A12FA001-AC4F-418D-AE19-62706E023703}">
                      <ahyp:hlinkClr val="tx"/>
                    </a:ext>
                  </a:extLst>
                </a:hlinkClick>
              </a:rPr>
              <a:t> </a:t>
            </a:r>
            <a:r>
              <a:rPr lang="en" sz="1100" u="sng">
                <a:solidFill>
                  <a:schemeClr val="hlink"/>
                </a:solidFill>
                <a:latin typeface="Arial"/>
                <a:ea typeface="Arial"/>
                <a:cs typeface="Arial"/>
                <a:sym typeface="Arial"/>
                <a:hlinkClick r:id="rId6"/>
              </a:rPr>
              <a:t>https://en.wikipedia.org/wiki/Microsoft_SQL_Server</a:t>
            </a:r>
            <a:r>
              <a:rPr lang="en" sz="1100">
                <a:solidFill>
                  <a:schemeClr val="dk2"/>
                </a:solidFill>
                <a:latin typeface="Arial"/>
                <a:ea typeface="Arial"/>
                <a:cs typeface="Arial"/>
                <a:sym typeface="Arial"/>
              </a:rPr>
              <a:t>.</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Wikipedia.</a:t>
            </a:r>
            <a:r>
              <a:rPr lang="en" sz="1100">
                <a:solidFill>
                  <a:schemeClr val="dk2"/>
                </a:solidFill>
                <a:latin typeface="Arial"/>
                <a:ea typeface="Arial"/>
                <a:cs typeface="Arial"/>
                <a:sym typeface="Arial"/>
              </a:rPr>
              <a:t> "Internet Information Services." </a:t>
            </a:r>
            <a:r>
              <a:rPr i="1" lang="en" sz="1100">
                <a:solidFill>
                  <a:schemeClr val="dk2"/>
                </a:solidFill>
                <a:latin typeface="Arial"/>
                <a:ea typeface="Arial"/>
                <a:cs typeface="Arial"/>
                <a:sym typeface="Arial"/>
              </a:rPr>
              <a:t>Wikipedia: The Free Encyclopedia</a:t>
            </a:r>
            <a:r>
              <a:rPr lang="en" sz="1100">
                <a:solidFill>
                  <a:schemeClr val="dk2"/>
                </a:solidFill>
                <a:latin typeface="Arial"/>
                <a:ea typeface="Arial"/>
                <a:cs typeface="Arial"/>
                <a:sym typeface="Arial"/>
              </a:rPr>
              <a:t>, Wikimedia Foundation,</a:t>
            </a:r>
            <a:br>
              <a:rPr lang="en" sz="1100">
                <a:solidFill>
                  <a:schemeClr val="dk2"/>
                </a:solidFill>
                <a:latin typeface="Arial"/>
                <a:ea typeface="Arial"/>
                <a:cs typeface="Arial"/>
                <a:sym typeface="Arial"/>
              </a:rPr>
            </a:br>
            <a:r>
              <a:rPr lang="en" sz="1100">
                <a:solidFill>
                  <a:schemeClr val="dk2"/>
                </a:solidFill>
                <a:uFill>
                  <a:noFill/>
                </a:uFill>
                <a:latin typeface="Arial"/>
                <a:ea typeface="Arial"/>
                <a:cs typeface="Arial"/>
                <a:sym typeface="Arial"/>
                <a:hlinkClick r:id="rId7">
                  <a:extLst>
                    <a:ext uri="{A12FA001-AC4F-418D-AE19-62706E023703}">
                      <ahyp:hlinkClr val="tx"/>
                    </a:ext>
                  </a:extLst>
                </a:hlinkClick>
              </a:rPr>
              <a:t> </a:t>
            </a:r>
            <a:r>
              <a:rPr lang="en" sz="1100" u="sng">
                <a:solidFill>
                  <a:schemeClr val="hlink"/>
                </a:solidFill>
                <a:latin typeface="Arial"/>
                <a:ea typeface="Arial"/>
                <a:cs typeface="Arial"/>
                <a:sym typeface="Arial"/>
                <a:hlinkClick r:id="rId8"/>
              </a:rPr>
              <a:t>https://en.wikipedia.org/wiki/Internet_Information_Services</a:t>
            </a:r>
            <a:r>
              <a:rPr lang="en" sz="1100">
                <a:solidFill>
                  <a:schemeClr val="dk2"/>
                </a:solidFill>
                <a:latin typeface="Arial"/>
                <a:ea typeface="Arial"/>
                <a:cs typeface="Arial"/>
                <a:sym typeface="Arial"/>
              </a:rPr>
              <a:t>.</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LWN.net.</a:t>
            </a:r>
            <a:r>
              <a:rPr lang="en" sz="1100">
                <a:solidFill>
                  <a:schemeClr val="dk2"/>
                </a:solidFill>
                <a:latin typeface="Arial"/>
                <a:ea typeface="Arial"/>
                <a:cs typeface="Arial"/>
                <a:sym typeface="Arial"/>
              </a:rPr>
              <a:t> “Overview of the Linux Kernel.” </a:t>
            </a:r>
            <a:r>
              <a:rPr i="1" lang="en" sz="1100">
                <a:solidFill>
                  <a:schemeClr val="dk2"/>
                </a:solidFill>
                <a:latin typeface="Arial"/>
                <a:ea typeface="Arial"/>
                <a:cs typeface="Arial"/>
                <a:sym typeface="Arial"/>
              </a:rPr>
              <a:t>LWN.net</a:t>
            </a:r>
            <a:r>
              <a:rPr lang="en" sz="1100">
                <a:solidFill>
                  <a:schemeClr val="dk2"/>
                </a:solidFill>
                <a:latin typeface="Arial"/>
                <a:ea typeface="Arial"/>
                <a:cs typeface="Arial"/>
                <a:sym typeface="Arial"/>
              </a:rPr>
              <a:t>,</a:t>
            </a:r>
            <a:br>
              <a:rPr lang="en" sz="1100">
                <a:solidFill>
                  <a:schemeClr val="dk2"/>
                </a:solidFill>
                <a:latin typeface="Arial"/>
                <a:ea typeface="Arial"/>
                <a:cs typeface="Arial"/>
                <a:sym typeface="Arial"/>
              </a:rPr>
            </a:br>
            <a:r>
              <a:rPr lang="en" sz="1100">
                <a:solidFill>
                  <a:schemeClr val="dk2"/>
                </a:solidFill>
                <a:uFill>
                  <a:noFill/>
                </a:uFill>
                <a:latin typeface="Arial"/>
                <a:ea typeface="Arial"/>
                <a:cs typeface="Arial"/>
                <a:sym typeface="Arial"/>
                <a:hlinkClick r:id="rId9">
                  <a:extLst>
                    <a:ext uri="{A12FA001-AC4F-418D-AE19-62706E023703}">
                      <ahyp:hlinkClr val="tx"/>
                    </a:ext>
                  </a:extLst>
                </a:hlinkClick>
              </a:rPr>
              <a:t> </a:t>
            </a:r>
            <a:r>
              <a:rPr lang="en" sz="1100" u="sng">
                <a:solidFill>
                  <a:schemeClr val="hlink"/>
                </a:solidFill>
                <a:latin typeface="Arial"/>
                <a:ea typeface="Arial"/>
                <a:cs typeface="Arial"/>
                <a:sym typeface="Arial"/>
                <a:hlinkClick r:id="rId10"/>
              </a:rPr>
              <a:t>https://lwn.net/</a:t>
            </a:r>
            <a:r>
              <a:rPr lang="en" sz="1100">
                <a:solidFill>
                  <a:schemeClr val="dk2"/>
                </a:solidFill>
                <a:latin typeface="Arial"/>
                <a:ea typeface="Arial"/>
                <a:cs typeface="Arial"/>
                <a:sym typeface="Arial"/>
              </a:rPr>
              <a:t>.</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Debian Project.</a:t>
            </a:r>
            <a:r>
              <a:rPr lang="en" sz="1100">
                <a:solidFill>
                  <a:schemeClr val="dk2"/>
                </a:solidFill>
                <a:latin typeface="Arial"/>
                <a:ea typeface="Arial"/>
                <a:cs typeface="Arial"/>
                <a:sym typeface="Arial"/>
              </a:rPr>
              <a:t> </a:t>
            </a:r>
            <a:r>
              <a:rPr i="1" lang="en" sz="1100">
                <a:solidFill>
                  <a:schemeClr val="dk2"/>
                </a:solidFill>
                <a:latin typeface="Arial"/>
                <a:ea typeface="Arial"/>
                <a:cs typeface="Arial"/>
                <a:sym typeface="Arial"/>
              </a:rPr>
              <a:t>Debian Administrator’s Handbook.</a:t>
            </a:r>
            <a:r>
              <a:rPr lang="en" sz="1100">
                <a:solidFill>
                  <a:schemeClr val="dk2"/>
                </a:solidFill>
                <a:latin typeface="Arial"/>
                <a:ea typeface="Arial"/>
                <a:cs typeface="Arial"/>
                <a:sym typeface="Arial"/>
              </a:rPr>
              <a:t> Debian.org,</a:t>
            </a:r>
            <a:br>
              <a:rPr lang="en" sz="1100">
                <a:solidFill>
                  <a:schemeClr val="dk2"/>
                </a:solidFill>
                <a:latin typeface="Arial"/>
                <a:ea typeface="Arial"/>
                <a:cs typeface="Arial"/>
                <a:sym typeface="Arial"/>
              </a:rPr>
            </a:br>
            <a:r>
              <a:rPr lang="en" sz="1100">
                <a:solidFill>
                  <a:schemeClr val="dk2"/>
                </a:solidFill>
                <a:uFill>
                  <a:noFill/>
                </a:uFill>
                <a:latin typeface="Arial"/>
                <a:ea typeface="Arial"/>
                <a:cs typeface="Arial"/>
                <a:sym typeface="Arial"/>
                <a:hlinkClick r:id="rId11">
                  <a:extLst>
                    <a:ext uri="{A12FA001-AC4F-418D-AE19-62706E023703}">
                      <ahyp:hlinkClr val="tx"/>
                    </a:ext>
                  </a:extLst>
                </a:hlinkClick>
              </a:rPr>
              <a:t> </a:t>
            </a:r>
            <a:r>
              <a:rPr lang="en" sz="1100" u="sng">
                <a:solidFill>
                  <a:schemeClr val="hlink"/>
                </a:solidFill>
                <a:latin typeface="Arial"/>
                <a:ea typeface="Arial"/>
                <a:cs typeface="Arial"/>
                <a:sym typeface="Arial"/>
                <a:hlinkClick r:id="rId12"/>
              </a:rPr>
              <a:t>https://www.debian.org/doc/</a:t>
            </a:r>
            <a:r>
              <a:rPr lang="en" sz="1100">
                <a:solidFill>
                  <a:schemeClr val="dk2"/>
                </a:solidFill>
                <a:latin typeface="Arial"/>
                <a:ea typeface="Arial"/>
                <a:cs typeface="Arial"/>
                <a:sym typeface="Arial"/>
              </a:rPr>
              <a:t>.</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Nubius Solutions.</a:t>
            </a:r>
            <a:r>
              <a:rPr lang="en" sz="1100">
                <a:solidFill>
                  <a:schemeClr val="dk2"/>
                </a:solidFill>
                <a:latin typeface="Arial"/>
                <a:ea typeface="Arial"/>
                <a:cs typeface="Arial"/>
                <a:sym typeface="Arial"/>
              </a:rPr>
              <a:t> “ASP.NET Application Hosting Best Practices.” </a:t>
            </a:r>
            <a:r>
              <a:rPr i="1" lang="en" sz="1100">
                <a:solidFill>
                  <a:schemeClr val="dk2"/>
                </a:solidFill>
                <a:latin typeface="Arial"/>
                <a:ea typeface="Arial"/>
                <a:cs typeface="Arial"/>
                <a:sym typeface="Arial"/>
              </a:rPr>
              <a:t>Nubius Solutions</a:t>
            </a:r>
            <a:r>
              <a:rPr lang="en" sz="1100">
                <a:solidFill>
                  <a:schemeClr val="dk2"/>
                </a:solidFill>
                <a:latin typeface="Arial"/>
                <a:ea typeface="Arial"/>
                <a:cs typeface="Arial"/>
                <a:sym typeface="Arial"/>
              </a:rPr>
              <a:t>,</a:t>
            </a:r>
            <a:br>
              <a:rPr lang="en" sz="1100">
                <a:solidFill>
                  <a:schemeClr val="dk2"/>
                </a:solidFill>
                <a:latin typeface="Arial"/>
                <a:ea typeface="Arial"/>
                <a:cs typeface="Arial"/>
                <a:sym typeface="Arial"/>
              </a:rPr>
            </a:br>
            <a:r>
              <a:rPr lang="en" sz="1100">
                <a:solidFill>
                  <a:schemeClr val="dk2"/>
                </a:solidFill>
                <a:latin typeface="Arial"/>
                <a:ea typeface="Arial"/>
                <a:cs typeface="Arial"/>
                <a:sym typeface="Arial"/>
              </a:rPr>
              <a:t> https://nubius.net/.</a:t>
            </a:r>
            <a:endParaRPr sz="1100">
              <a:solidFill>
                <a:schemeClr val="dk2"/>
              </a:solidFill>
              <a:latin typeface="Arial"/>
              <a:ea typeface="Arial"/>
              <a:cs typeface="Arial"/>
              <a:sym typeface="Arial"/>
            </a:endParaRPr>
          </a:p>
          <a:p>
            <a:pPr indent="0" lvl="0" marL="0" rtl="0" algn="l">
              <a:spcBef>
                <a:spcPts val="1200"/>
              </a:spcBef>
              <a:spcAft>
                <a:spcPts val="1200"/>
              </a:spcAft>
              <a:buNone/>
            </a:pPr>
            <a:r>
              <a:rPr b="1" lang="en" sz="1100">
                <a:solidFill>
                  <a:schemeClr val="dk2"/>
                </a:solidFill>
                <a:latin typeface="Arial"/>
                <a:ea typeface="Arial"/>
                <a:cs typeface="Arial"/>
                <a:sym typeface="Arial"/>
              </a:rPr>
              <a:t>Microsoft.</a:t>
            </a:r>
            <a:r>
              <a:rPr lang="en" sz="1100">
                <a:solidFill>
                  <a:schemeClr val="dk2"/>
                </a:solidFill>
                <a:latin typeface="Arial"/>
                <a:ea typeface="Arial"/>
                <a:cs typeface="Arial"/>
                <a:sym typeface="Arial"/>
              </a:rPr>
              <a:t> </a:t>
            </a:r>
            <a:r>
              <a:rPr i="1" lang="en" sz="1100">
                <a:solidFill>
                  <a:schemeClr val="dk2"/>
                </a:solidFill>
                <a:latin typeface="Arial"/>
                <a:ea typeface="Arial"/>
                <a:cs typeface="Arial"/>
                <a:sym typeface="Arial"/>
              </a:rPr>
              <a:t>ASP.NET 8 Documentation.</a:t>
            </a:r>
            <a:r>
              <a:rPr lang="en" sz="1100">
                <a:solidFill>
                  <a:schemeClr val="dk2"/>
                </a:solidFill>
                <a:latin typeface="Arial"/>
                <a:ea typeface="Arial"/>
                <a:cs typeface="Arial"/>
                <a:sym typeface="Arial"/>
              </a:rPr>
              <a:t> Microsoft Docs,</a:t>
            </a:r>
            <a:br>
              <a:rPr lang="en" sz="1100">
                <a:solidFill>
                  <a:schemeClr val="dk2"/>
                </a:solidFill>
                <a:latin typeface="Arial"/>
                <a:ea typeface="Arial"/>
                <a:cs typeface="Arial"/>
                <a:sym typeface="Arial"/>
              </a:rPr>
            </a:br>
            <a:r>
              <a:rPr lang="en" sz="1100">
                <a:solidFill>
                  <a:schemeClr val="dk2"/>
                </a:solidFill>
                <a:latin typeface="Arial"/>
                <a:ea typeface="Arial"/>
                <a:cs typeface="Arial"/>
                <a:sym typeface="Arial"/>
              </a:rPr>
              <a:t> </a:t>
            </a:r>
            <a:r>
              <a:rPr lang="en" sz="1100" u="sng">
                <a:solidFill>
                  <a:schemeClr val="hlink"/>
                </a:solidFill>
                <a:latin typeface="Arial"/>
                <a:ea typeface="Arial"/>
                <a:cs typeface="Arial"/>
                <a:sym typeface="Arial"/>
                <a:hlinkClick r:id="rId13"/>
              </a:rPr>
              <a:t>https://learn.microsoft.com/en-us/dotnet/</a:t>
            </a:r>
            <a:r>
              <a:rPr lang="en" sz="1100">
                <a:solidFill>
                  <a:schemeClr val="dk2"/>
                </a:solidFill>
                <a:latin typeface="Arial"/>
                <a:ea typeface="Arial"/>
                <a:cs typeface="Arial"/>
                <a:sym typeface="Arial"/>
              </a:rPr>
              <a:t> </a:t>
            </a:r>
            <a:endParaRPr/>
          </a:p>
        </p:txBody>
      </p:sp>
      <p:pic>
        <p:nvPicPr>
          <p:cNvPr id="337" name="Google Shape;337;p44"/>
          <p:cNvPicPr preferRelativeResize="0"/>
          <p:nvPr/>
        </p:nvPicPr>
        <p:blipFill>
          <a:blip r:embed="rId14">
            <a:alphaModFix/>
          </a:blip>
          <a:stretch>
            <a:fillRect/>
          </a:stretch>
        </p:blipFill>
        <p:spPr>
          <a:xfrm>
            <a:off x="6162863" y="2991963"/>
            <a:ext cx="2619375" cy="1743075"/>
          </a:xfrm>
          <a:prstGeom prst="rect">
            <a:avLst/>
          </a:prstGeom>
          <a:noFill/>
          <a:ln>
            <a:noFill/>
          </a:ln>
        </p:spPr>
      </p:pic>
      <p:sp>
        <p:nvSpPr>
          <p:cNvPr id="338" name="Google Shape;338;p44"/>
          <p:cNvSpPr txBox="1"/>
          <p:nvPr/>
        </p:nvSpPr>
        <p:spPr>
          <a:xfrm>
            <a:off x="6872100" y="239550"/>
            <a:ext cx="20667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Alexander Diaz</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