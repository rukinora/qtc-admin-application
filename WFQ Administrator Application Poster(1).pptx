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21031200" cy="32004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3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3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3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3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0">
          <p15:clr>
            <a:srgbClr val="A4A3A4"/>
          </p15:clr>
        </p15:guide>
        <p15:guide id="2" pos="66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1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C28067-BA3C-053D-40C0-D5B50081218D}" v="105" dt="2026-04-22T01:57:24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080"/>
        <p:guide pos="662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20DF10D-B47E-41FC-0148-00FA50E57A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F41BBC2-7CB0-D2D4-B535-90BF7B87611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6DA0126F-9552-D080-8355-D9666D65B96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8088B20-027B-24E2-6440-29ED65D2B15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FED81C5-9680-EC4D-8189-40D8D97459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8FE5472-6677-E3F2-F315-B3934ABBFD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F1526D-E75D-3DE0-D82B-772C4D32E0E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8FDEA87-48DF-D523-90B9-E9434475E97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01875" y="685800"/>
            <a:ext cx="22542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9AF700C1-1019-C21D-F539-F68A8F6874A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31BD30A7-40E2-E128-0705-506AC94578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2F10B475-7D91-50A1-66D6-2418D7D3BE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009C65D-D1A6-9E45-8413-EC38A1AAC3A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9639BEBB-6B68-F05C-FD05-47CCC2F4AF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F5CB6C2-8988-414C-B70B-30E7F098AB65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AAF9B1D-AEE2-E332-41D2-3FFC08E565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7FE60AE-B56F-E490-9E4E-478FD6A2B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Have students check that the logo is the appropriate one to use.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7975" y="9942513"/>
            <a:ext cx="17875250" cy="68595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54363" y="18135600"/>
            <a:ext cx="14722475" cy="8178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374AE7-93D9-6E0B-9C75-E352CE3EB3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FD7E6F-0B9B-FC8E-63F5-9B3E1D975F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93DE28-E007-BB24-E74D-B77B82B3E4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DE8082-F424-B249-8DEB-9CF18A34B0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644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BA85B3-15F8-13E4-BA7F-8F1B11979C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F22-74BB-5A26-CB88-72D035DB60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A1F081-E20F-009A-34B0-6C0F2F6D4B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5F099B-52CB-1B41-8E4F-1E9FDB1188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2580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113" y="20566063"/>
            <a:ext cx="17875250" cy="6356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2113" y="13565188"/>
            <a:ext cx="17875250" cy="7000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C76581-885D-2DEF-DCC6-270966B2CC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F20F80-C607-01B5-926C-1CBE866FF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C78A19-5AA2-6BB6-6D6B-A0C53F6A7A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AFFBA9-43ED-B84B-B8E2-53DC1882E4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860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7975" y="9245600"/>
            <a:ext cx="8861425" cy="1920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91800" y="9245600"/>
            <a:ext cx="8861425" cy="1920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62DB6-FA34-46D6-2AC2-780D354770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6D7B8C-D9BF-437B-5EA5-C4BA6DF788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EB8570-F589-830F-1CCC-29B33043F4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D41422-0589-D941-88C8-4FDB306C8E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918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925" y="1281113"/>
            <a:ext cx="18929350" cy="533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925" y="7164388"/>
            <a:ext cx="9293225" cy="29845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0925" y="10148888"/>
            <a:ext cx="9293225" cy="1844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683875" y="7164388"/>
            <a:ext cx="9296400" cy="29845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683875" y="10148888"/>
            <a:ext cx="9296400" cy="1844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BB63A69-A4F0-B046-E4D7-01D91C3032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C6F29FC-56E7-BA37-8B16-329585F6DE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81C9810-162A-A894-8CFF-A8F4C02365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27240F-1F8A-6E42-9757-56B428F320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961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B855024-E8F1-A7EB-ABFD-B3190C013D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ADA60DE-504A-55E0-A691-968BE4AA27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22575D3-F677-8386-C266-EFB0976363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1B05B9-CEF5-EF4F-8443-3E439F351B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87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47ED115-8A6C-4A5A-F041-0199C71573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191023-AE19-007C-6B01-D3644F8279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D8F338B-1CCE-7390-AF0A-05D82B7193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65241A-4EC3-BF4C-8912-A76AAA386E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788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925" y="1274763"/>
            <a:ext cx="6919913" cy="5422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3250" y="1274763"/>
            <a:ext cx="11757025" cy="273145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0925" y="6697663"/>
            <a:ext cx="6919913" cy="218916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28415-DB3A-035F-E233-C8A6F006B5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770BFF-E2BF-B881-3164-5498B324EF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64ED7-FAF3-BD1F-742D-41EAF41CC4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7966B7-F230-C64B-9D9D-8127B352EB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576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2738" y="22402800"/>
            <a:ext cx="12619037" cy="26447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22738" y="2859088"/>
            <a:ext cx="12619037" cy="19202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22738" y="25047575"/>
            <a:ext cx="12619037" cy="3756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BCB23-5E33-53E6-C8A6-BB2DEEEE8C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675FF5-EBD1-76CE-F3BC-27E7548326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59762E-7603-D7EE-BD74-DE44E9B14E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549F5-46D0-1C40-81F4-59A0EB76F1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84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88126BB-768E-3889-AFC4-CE02891534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8BF401-1056-2F94-0CBB-6AEB8A112D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FDA30B-29EE-D73D-2A47-88C131D3EF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34D41C-2BF8-B145-BA0F-E20FBA70E3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06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984413" y="2844800"/>
            <a:ext cx="4468812" cy="2560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7975" y="2844800"/>
            <a:ext cx="13254038" cy="2560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C55986-B9E0-90BD-8672-434E6D88AE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CBA266-DEAA-5177-059F-74547581D1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112DC6-397A-8779-560A-CA98C202BC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85AF16-1874-9D45-AD08-B63D7D17E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8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10BA47F-B963-D116-11A2-9DAB7DA9C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77975" y="2844800"/>
            <a:ext cx="178752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03031" tIns="151516" rIns="303031" bIns="1515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87B7EDF-AA0F-56A7-E9CE-D37DE349C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77975" y="9245600"/>
            <a:ext cx="17875250" cy="1920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03031" tIns="151516" rIns="303031" bIns="151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68C7D07-149B-75A3-30CD-CEB96086FB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77975" y="29159200"/>
            <a:ext cx="43815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3031" tIns="151516" rIns="303031" bIns="15151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46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91410F4-A89A-8EC4-164E-B9CC4E82287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85025" y="29159200"/>
            <a:ext cx="666115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3031" tIns="151516" rIns="303031" bIns="15151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46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DAC664F-3BF4-71A1-29B0-7464B4B492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071725" y="29159200"/>
            <a:ext cx="43815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3031" tIns="151516" rIns="303031" bIns="15151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4600"/>
            </a:lvl1pPr>
          </a:lstStyle>
          <a:p>
            <a:fld id="{7AA2B616-4B10-A845-ABA5-CF4DAB5EFB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30538" rtl="0" eaLnBrk="0" fontAlgn="base" hangingPunct="0">
        <a:spcBef>
          <a:spcPct val="0"/>
        </a:spcBef>
        <a:spcAft>
          <a:spcPct val="0"/>
        </a:spcAft>
        <a:defRPr sz="146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3030538" rtl="0" eaLnBrk="0" fontAlgn="base" hangingPunct="0">
        <a:spcBef>
          <a:spcPct val="0"/>
        </a:spcBef>
        <a:spcAft>
          <a:spcPct val="0"/>
        </a:spcAft>
        <a:defRPr sz="14600">
          <a:solidFill>
            <a:schemeClr val="tx2"/>
          </a:solidFill>
          <a:latin typeface="Times New Roman" pitchFamily="18" charset="0"/>
          <a:ea typeface="MS PGothic" panose="020B0600070205080204" pitchFamily="34" charset="-128"/>
        </a:defRPr>
      </a:lvl2pPr>
      <a:lvl3pPr algn="ctr" defTabSz="3030538" rtl="0" eaLnBrk="0" fontAlgn="base" hangingPunct="0">
        <a:spcBef>
          <a:spcPct val="0"/>
        </a:spcBef>
        <a:spcAft>
          <a:spcPct val="0"/>
        </a:spcAft>
        <a:defRPr sz="14600">
          <a:solidFill>
            <a:schemeClr val="tx2"/>
          </a:solidFill>
          <a:latin typeface="Times New Roman" pitchFamily="18" charset="0"/>
          <a:ea typeface="MS PGothic" panose="020B0600070205080204" pitchFamily="34" charset="-128"/>
        </a:defRPr>
      </a:lvl3pPr>
      <a:lvl4pPr algn="ctr" defTabSz="3030538" rtl="0" eaLnBrk="0" fontAlgn="base" hangingPunct="0">
        <a:spcBef>
          <a:spcPct val="0"/>
        </a:spcBef>
        <a:spcAft>
          <a:spcPct val="0"/>
        </a:spcAft>
        <a:defRPr sz="14600">
          <a:solidFill>
            <a:schemeClr val="tx2"/>
          </a:solidFill>
          <a:latin typeface="Times New Roman" pitchFamily="18" charset="0"/>
          <a:ea typeface="MS PGothic" panose="020B0600070205080204" pitchFamily="34" charset="-128"/>
        </a:defRPr>
      </a:lvl4pPr>
      <a:lvl5pPr algn="ctr" defTabSz="3030538" rtl="0" eaLnBrk="0" fontAlgn="base" hangingPunct="0">
        <a:spcBef>
          <a:spcPct val="0"/>
        </a:spcBef>
        <a:spcAft>
          <a:spcPct val="0"/>
        </a:spcAft>
        <a:defRPr sz="14600">
          <a:solidFill>
            <a:schemeClr val="tx2"/>
          </a:solidFill>
          <a:latin typeface="Times New Roman" pitchFamily="18" charset="0"/>
          <a:ea typeface="MS PGothic" panose="020B0600070205080204" pitchFamily="34" charset="-128"/>
        </a:defRPr>
      </a:lvl5pPr>
      <a:lvl6pPr marL="457200" algn="ctr" defTabSz="3030538" rtl="0" fontAlgn="base">
        <a:spcBef>
          <a:spcPct val="0"/>
        </a:spcBef>
        <a:spcAft>
          <a:spcPct val="0"/>
        </a:spcAft>
        <a:defRPr sz="14600">
          <a:solidFill>
            <a:schemeClr val="tx2"/>
          </a:solidFill>
          <a:latin typeface="Times New Roman" pitchFamily="18" charset="0"/>
        </a:defRPr>
      </a:lvl6pPr>
      <a:lvl7pPr marL="914400" algn="ctr" defTabSz="3030538" rtl="0" fontAlgn="base">
        <a:spcBef>
          <a:spcPct val="0"/>
        </a:spcBef>
        <a:spcAft>
          <a:spcPct val="0"/>
        </a:spcAft>
        <a:defRPr sz="14600">
          <a:solidFill>
            <a:schemeClr val="tx2"/>
          </a:solidFill>
          <a:latin typeface="Times New Roman" pitchFamily="18" charset="0"/>
        </a:defRPr>
      </a:lvl7pPr>
      <a:lvl8pPr marL="1371600" algn="ctr" defTabSz="3030538" rtl="0" fontAlgn="base">
        <a:spcBef>
          <a:spcPct val="0"/>
        </a:spcBef>
        <a:spcAft>
          <a:spcPct val="0"/>
        </a:spcAft>
        <a:defRPr sz="14600">
          <a:solidFill>
            <a:schemeClr val="tx2"/>
          </a:solidFill>
          <a:latin typeface="Times New Roman" pitchFamily="18" charset="0"/>
        </a:defRPr>
      </a:lvl8pPr>
      <a:lvl9pPr marL="1828800" algn="ctr" defTabSz="3030538" rtl="0" fontAlgn="base">
        <a:spcBef>
          <a:spcPct val="0"/>
        </a:spcBef>
        <a:spcAft>
          <a:spcPct val="0"/>
        </a:spcAft>
        <a:defRPr sz="14600">
          <a:solidFill>
            <a:schemeClr val="tx2"/>
          </a:solidFill>
          <a:latin typeface="Times New Roman" pitchFamily="18" charset="0"/>
        </a:defRPr>
      </a:lvl9pPr>
    </p:titleStyle>
    <p:bodyStyle>
      <a:lvl1pPr marL="1136650" indent="-1136650" algn="l" defTabSz="3030538" rtl="0" eaLnBrk="0" fontAlgn="base" hangingPunct="0">
        <a:spcBef>
          <a:spcPct val="20000"/>
        </a:spcBef>
        <a:spcAft>
          <a:spcPct val="0"/>
        </a:spcAft>
        <a:buChar char="•"/>
        <a:defRPr sz="106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2462213" indent="-947738" algn="l" defTabSz="3030538" rtl="0" eaLnBrk="0" fontAlgn="base" hangingPunct="0">
        <a:spcBef>
          <a:spcPct val="20000"/>
        </a:spcBef>
        <a:spcAft>
          <a:spcPct val="0"/>
        </a:spcAft>
        <a:buChar char="–"/>
        <a:defRPr sz="93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3789363" indent="-758825" algn="l" defTabSz="3030538" rtl="0" eaLnBrk="0" fontAlgn="base" hangingPunct="0">
        <a:spcBef>
          <a:spcPct val="20000"/>
        </a:spcBef>
        <a:spcAft>
          <a:spcPct val="0"/>
        </a:spcAft>
        <a:buChar char="•"/>
        <a:defRPr sz="79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5303838" indent="-758825" algn="l" defTabSz="3030538" rtl="0" eaLnBrk="0" fontAlgn="base" hangingPunct="0">
        <a:spcBef>
          <a:spcPct val="20000"/>
        </a:spcBef>
        <a:spcAft>
          <a:spcPct val="0"/>
        </a:spcAft>
        <a:buChar char="–"/>
        <a:defRPr sz="6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6818313" indent="-757238" algn="l" defTabSz="3030538" rtl="0" eaLnBrk="0" fontAlgn="base" hangingPunct="0">
        <a:spcBef>
          <a:spcPct val="20000"/>
        </a:spcBef>
        <a:spcAft>
          <a:spcPct val="0"/>
        </a:spcAft>
        <a:buChar char="»"/>
        <a:defRPr sz="6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7275513" indent="-757238" algn="l" defTabSz="3030538" rtl="0" fontAlgn="base">
        <a:spcBef>
          <a:spcPct val="20000"/>
        </a:spcBef>
        <a:spcAft>
          <a:spcPct val="0"/>
        </a:spcAft>
        <a:buChar char="»"/>
        <a:defRPr sz="6700">
          <a:solidFill>
            <a:schemeClr val="tx1"/>
          </a:solidFill>
          <a:latin typeface="+mn-lt"/>
        </a:defRPr>
      </a:lvl6pPr>
      <a:lvl7pPr marL="7732713" indent="-757238" algn="l" defTabSz="3030538" rtl="0" fontAlgn="base">
        <a:spcBef>
          <a:spcPct val="20000"/>
        </a:spcBef>
        <a:spcAft>
          <a:spcPct val="0"/>
        </a:spcAft>
        <a:buChar char="»"/>
        <a:defRPr sz="6700">
          <a:solidFill>
            <a:schemeClr val="tx1"/>
          </a:solidFill>
          <a:latin typeface="+mn-lt"/>
        </a:defRPr>
      </a:lvl7pPr>
      <a:lvl8pPr marL="8189913" indent="-757238" algn="l" defTabSz="3030538" rtl="0" fontAlgn="base">
        <a:spcBef>
          <a:spcPct val="20000"/>
        </a:spcBef>
        <a:spcAft>
          <a:spcPct val="0"/>
        </a:spcAft>
        <a:buChar char="»"/>
        <a:defRPr sz="6700">
          <a:solidFill>
            <a:schemeClr val="tx1"/>
          </a:solidFill>
          <a:latin typeface="+mn-lt"/>
        </a:defRPr>
      </a:lvl8pPr>
      <a:lvl9pPr marL="8647113" indent="-757238" algn="l" defTabSz="3030538" rtl="0" fontAlgn="base">
        <a:spcBef>
          <a:spcPct val="20000"/>
        </a:spcBef>
        <a:spcAft>
          <a:spcPct val="0"/>
        </a:spcAft>
        <a:buChar char="»"/>
        <a:defRPr sz="67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1" descr="CalStateLAlogo_badge_white.png">
            <a:extLst>
              <a:ext uri="{FF2B5EF4-FFF2-40B4-BE49-F238E27FC236}">
                <a16:creationId xmlns:a16="http://schemas.microsoft.com/office/drawing/2014/main" id="{A0961BE9-8D35-597F-14A1-4E836792C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2536825" cy="315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19">
            <a:extLst>
              <a:ext uri="{FF2B5EF4-FFF2-40B4-BE49-F238E27FC236}">
                <a16:creationId xmlns:a16="http://schemas.microsoft.com/office/drawing/2014/main" id="{D8273DE8-DD44-06D6-7055-29261B19E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031200" cy="4876800"/>
          </a:xfrm>
          <a:prstGeom prst="rect">
            <a:avLst/>
          </a:prstGeom>
          <a:solidFill>
            <a:srgbClr val="25174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0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7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3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EA06ABDA-67E4-9F5E-841B-6A35D68900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8900" y="76200"/>
            <a:ext cx="15700375" cy="4648200"/>
          </a:xfrm>
        </p:spPr>
        <p:txBody>
          <a:bodyPr/>
          <a:lstStyle/>
          <a:p>
            <a:pPr eaLnBrk="1" hangingPunct="1"/>
            <a:r>
              <a:rPr lang="en-US" altLang="en-US" sz="6600" b="1">
                <a:solidFill>
                  <a:schemeClr val="bg1"/>
                </a:solidFill>
                <a:latin typeface="Arial" panose="020B0604020202020204" pitchFamily="34" charset="0"/>
              </a:rPr>
              <a:t>Workflow Queue (WFQ) Administrator Application</a:t>
            </a:r>
            <a:br>
              <a:rPr lang="en-US" altLang="en-US" sz="6600">
                <a:solidFill>
                  <a:schemeClr val="bg1"/>
                </a:solidFill>
                <a:latin typeface="Arial" panose="020B0604020202020204" pitchFamily="34" charset="0"/>
              </a:rPr>
            </a:br>
            <a:br>
              <a:rPr lang="en-US" altLang="en-US" sz="210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3000" b="1">
                <a:solidFill>
                  <a:schemeClr val="bg1"/>
                </a:solidFill>
                <a:latin typeface="Arial" panose="020B0604020202020204" pitchFamily="34" charset="0"/>
              </a:rPr>
              <a:t>Team Members:</a:t>
            </a:r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</a:rPr>
              <a:t> Samuel Acevedo, Alexander Diaz, Ruben Flores, Dylan Huang, Haik Oganesyan, Jesus Ojeda, Slok Patel, Edwin Rojas, Laila Velasquez, Zhen Zhao</a:t>
            </a:r>
            <a:b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3000" b="1">
                <a:solidFill>
                  <a:schemeClr val="bg1"/>
                </a:solidFill>
                <a:latin typeface="Arial" panose="020B0604020202020204" pitchFamily="34" charset="0"/>
              </a:rPr>
              <a:t>Faculty Advisor:</a:t>
            </a:r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</a:rPr>
              <a:t> Huiping Guo</a:t>
            </a:r>
            <a:b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3000" b="1">
                <a:solidFill>
                  <a:schemeClr val="bg1"/>
                </a:solidFill>
                <a:latin typeface="Arial" panose="020B0604020202020204" pitchFamily="34" charset="0"/>
              </a:rPr>
              <a:t>Leidos QTC Liaison:</a:t>
            </a:r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</a:rPr>
              <a:t> Edmundo Guzman-Meza, Denise </a:t>
            </a:r>
            <a:r>
              <a:rPr lang="en-US" altLang="en-US" sz="3000" err="1">
                <a:solidFill>
                  <a:schemeClr val="bg1"/>
                </a:solidFill>
                <a:latin typeface="Arial" panose="020B0604020202020204" pitchFamily="34" charset="0"/>
              </a:rPr>
              <a:t>Tabilas</a:t>
            </a:r>
            <a:b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</a:rPr>
              <a:t>Department of Computer Science California State University, Los Angeles</a:t>
            </a:r>
          </a:p>
        </p:txBody>
      </p:sp>
      <p:sp>
        <p:nvSpPr>
          <p:cNvPr id="4101" name="Rectangle 218">
            <a:extLst>
              <a:ext uri="{FF2B5EF4-FFF2-40B4-BE49-F238E27FC236}">
                <a16:creationId xmlns:a16="http://schemas.microsoft.com/office/drawing/2014/main" id="{53CBEEDA-3122-0D1A-D1BE-96155A9E0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0" y="1752600"/>
            <a:ext cx="3352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0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7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300"/>
          </a:p>
        </p:txBody>
      </p:sp>
      <p:pic>
        <p:nvPicPr>
          <p:cNvPr id="2" name="Picture 1" descr="A white and yellow logo with a bird&#10;&#10;AI-generated content may be incorrect.">
            <a:extLst>
              <a:ext uri="{FF2B5EF4-FFF2-40B4-BE49-F238E27FC236}">
                <a16:creationId xmlns:a16="http://schemas.microsoft.com/office/drawing/2014/main" id="{6C1E0CF9-7311-BC98-646E-D227FA9E4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29" y="1257300"/>
            <a:ext cx="2819400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A4F8AB-B465-1936-2987-C2D4840EC3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5250" y="1058636"/>
            <a:ext cx="3155950" cy="3155950"/>
          </a:xfrm>
          <a:prstGeom prst="rect">
            <a:avLst/>
          </a:prstGeom>
        </p:spPr>
      </p:pic>
      <p:sp>
        <p:nvSpPr>
          <p:cNvPr id="39" name="Google Shape;54;p13">
            <a:extLst>
              <a:ext uri="{FF2B5EF4-FFF2-40B4-BE49-F238E27FC236}">
                <a16:creationId xmlns:a16="http://schemas.microsoft.com/office/drawing/2014/main" id="{4BCAEBB9-7518-8F33-E4B8-C4B43864F1A4}"/>
              </a:ext>
            </a:extLst>
          </p:cNvPr>
          <p:cNvSpPr/>
          <p:nvPr/>
        </p:nvSpPr>
        <p:spPr>
          <a:xfrm>
            <a:off x="14365858" y="21295175"/>
            <a:ext cx="6644100" cy="9939300"/>
          </a:xfrm>
          <a:prstGeom prst="rect">
            <a:avLst/>
          </a:prstGeom>
          <a:solidFill>
            <a:srgbClr val="2517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000000"/>
              </a:highlight>
            </a:endParaRPr>
          </a:p>
        </p:txBody>
      </p:sp>
      <p:sp>
        <p:nvSpPr>
          <p:cNvPr id="40" name="Google Shape;55;p13">
            <a:extLst>
              <a:ext uri="{FF2B5EF4-FFF2-40B4-BE49-F238E27FC236}">
                <a16:creationId xmlns:a16="http://schemas.microsoft.com/office/drawing/2014/main" id="{0CE53D40-5FD2-37B5-9719-3E00B8125939}"/>
              </a:ext>
            </a:extLst>
          </p:cNvPr>
          <p:cNvSpPr/>
          <p:nvPr/>
        </p:nvSpPr>
        <p:spPr>
          <a:xfrm>
            <a:off x="14359893" y="6870290"/>
            <a:ext cx="6673889" cy="12611710"/>
          </a:xfrm>
          <a:prstGeom prst="rect">
            <a:avLst/>
          </a:prstGeom>
          <a:solidFill>
            <a:srgbClr val="2517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Workflow Management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Create, edit, and delete workflows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View detailed workflow information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Search and sort workflows by name or status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Track workflow lifecycle (active, pending, completed) 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Step Configuration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Add, edit, and remove workflow steps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Define step sequence and ordering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Automatic resequencing after step deletion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Enable or disable specific steps 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Task Management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Assign tasks to users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Track task ownership and responsibility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Update task status (pending, in progress, completed)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View task history and progression 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User &amp; Access Control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Role-based access (Admin vs User)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Restrict administrative actions to authorized users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Maintain session-based authentication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Control visibility of workflows and actions 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Data Validation &amp; Integrity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Prevent duplicate workflow names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Enforce unique step sequences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Validate user input before submission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Maintain consistent and structured data relationships 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Reporting &amp; Insights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Generate workflow reports (CSV/PDF)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Track completion rates and performance metrics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Monthly performance summaries 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Export data for external analysis </a:t>
            </a:r>
            <a:endParaRPr sz="2400">
              <a:solidFill>
                <a:schemeClr val="bg1"/>
              </a:solidFill>
              <a:highlight>
                <a:srgbClr val="000000"/>
              </a:highlight>
              <a:latin typeface="Times New Roman"/>
              <a:ea typeface="MS PGothic"/>
              <a:cs typeface="Times New Roman"/>
            </a:endParaRPr>
          </a:p>
        </p:txBody>
      </p:sp>
      <p:sp>
        <p:nvSpPr>
          <p:cNvPr id="41" name="Google Shape;56;p13">
            <a:extLst>
              <a:ext uri="{FF2B5EF4-FFF2-40B4-BE49-F238E27FC236}">
                <a16:creationId xmlns:a16="http://schemas.microsoft.com/office/drawing/2014/main" id="{691213E1-5733-0147-BDC5-FD5CA7152AF0}"/>
              </a:ext>
            </a:extLst>
          </p:cNvPr>
          <p:cNvSpPr/>
          <p:nvPr/>
        </p:nvSpPr>
        <p:spPr>
          <a:xfrm>
            <a:off x="7193546" y="6854762"/>
            <a:ext cx="6644100" cy="9329324"/>
          </a:xfrm>
          <a:prstGeom prst="rect">
            <a:avLst/>
          </a:prstGeom>
          <a:solidFill>
            <a:srgbClr val="2517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Presentation Layer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User interface built with ASP.NET MVC views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Allows administrators and users to interact with workflows, tasks, and reports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Application Layer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Controller logic handles requests and responses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Business logic processes workflow creation, step management, task tracking, and reporting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Data Layer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SQL Server database stores workflows, steps, tasks, users, and reporting data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Maintains relationships between workflow records and associated steps/tasks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Supports structured queries for retrieval, updates, and exports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Security Layer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Session-based authentication verifies logged-in users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Role-based access control restricts administrative actions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Reporting Layer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Reporting services generate CSV and PDF exports workflow activity and completion metrics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2400">
              <a:solidFill>
                <a:schemeClr val="bg1"/>
              </a:solidFill>
              <a:cs typeface="Times New Roman"/>
            </a:endParaRPr>
          </a:p>
          <a:p>
            <a:endParaRPr lang="en-US" sz="2400">
              <a:solidFill>
                <a:schemeClr val="bg1"/>
              </a:solidFill>
              <a:cs typeface="Times New Roman"/>
            </a:endParaRPr>
          </a:p>
        </p:txBody>
      </p:sp>
      <p:sp>
        <p:nvSpPr>
          <p:cNvPr id="42" name="Google Shape;57;p13">
            <a:extLst>
              <a:ext uri="{FF2B5EF4-FFF2-40B4-BE49-F238E27FC236}">
                <a16:creationId xmlns:a16="http://schemas.microsoft.com/office/drawing/2014/main" id="{1F10C177-BCC8-F8E8-6361-370F80E05AEE}"/>
              </a:ext>
            </a:extLst>
          </p:cNvPr>
          <p:cNvSpPr/>
          <p:nvPr/>
        </p:nvSpPr>
        <p:spPr>
          <a:xfrm>
            <a:off x="31633" y="6874900"/>
            <a:ext cx="6644100" cy="5163900"/>
          </a:xfrm>
          <a:prstGeom prst="rect">
            <a:avLst/>
          </a:prstGeom>
          <a:solidFill>
            <a:srgbClr val="2517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000000"/>
                </a:highlight>
                <a:latin typeface="Times New Roman"/>
                <a:ea typeface="MS PGothic"/>
                <a:cs typeface="Times New Roman"/>
              </a:rPr>
              <a:t>dd</a:t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43" name="Google Shape;58;p13">
            <a:extLst>
              <a:ext uri="{FF2B5EF4-FFF2-40B4-BE49-F238E27FC236}">
                <a16:creationId xmlns:a16="http://schemas.microsoft.com/office/drawing/2014/main" id="{83526B00-2CF4-59DF-FD15-67E7BD44C661}"/>
              </a:ext>
            </a:extLst>
          </p:cNvPr>
          <p:cNvSpPr/>
          <p:nvPr/>
        </p:nvSpPr>
        <p:spPr>
          <a:xfrm>
            <a:off x="43058" y="13870650"/>
            <a:ext cx="6644100" cy="88656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000000"/>
              </a:highlight>
            </a:endParaRPr>
          </a:p>
        </p:txBody>
      </p:sp>
      <p:sp>
        <p:nvSpPr>
          <p:cNvPr id="44" name="Google Shape;59;p13">
            <a:extLst>
              <a:ext uri="{FF2B5EF4-FFF2-40B4-BE49-F238E27FC236}">
                <a16:creationId xmlns:a16="http://schemas.microsoft.com/office/drawing/2014/main" id="{631FAF1F-1850-47DB-97D5-800A2EA99A43}"/>
              </a:ext>
            </a:extLst>
          </p:cNvPr>
          <p:cNvSpPr/>
          <p:nvPr/>
        </p:nvSpPr>
        <p:spPr>
          <a:xfrm>
            <a:off x="31633" y="24516975"/>
            <a:ext cx="6644100" cy="6717600"/>
          </a:xfrm>
          <a:prstGeom prst="rect">
            <a:avLst/>
          </a:prstGeom>
          <a:solidFill>
            <a:srgbClr val="2517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000000"/>
              </a:highlight>
            </a:endParaRPr>
          </a:p>
        </p:txBody>
      </p:sp>
      <p:sp>
        <p:nvSpPr>
          <p:cNvPr id="45" name="Google Shape;60;p13">
            <a:extLst>
              <a:ext uri="{FF2B5EF4-FFF2-40B4-BE49-F238E27FC236}">
                <a16:creationId xmlns:a16="http://schemas.microsoft.com/office/drawing/2014/main" id="{9B735775-DAFE-D5A2-D910-918C50D4C054}"/>
              </a:ext>
            </a:extLst>
          </p:cNvPr>
          <p:cNvSpPr/>
          <p:nvPr/>
        </p:nvSpPr>
        <p:spPr>
          <a:xfrm>
            <a:off x="7198758" y="17592400"/>
            <a:ext cx="6644100" cy="13642200"/>
          </a:xfrm>
          <a:prstGeom prst="rect">
            <a:avLst/>
          </a:prstGeom>
          <a:solidFill>
            <a:srgbClr val="2517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Authentication &amp; Access Control</a:t>
            </a: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Session-based authentication to verify logged-in users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Role-based access control (Admin vs User)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Restriction of administrative actions to authorized roles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Protected routes to prevent unauthorized page access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r>
              <a:rPr lang="en-US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Data Protection</a:t>
            </a: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Secure handling of user input to prevent invalid or malicious data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Server-side validation for all form submissions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Prevention of duplicate or conflicting records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Controlled access to sensitive workflow and user data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r>
              <a:rPr lang="en-US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Application Security</a:t>
            </a: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Error handling to prevent exposure of system details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Safe handling of user sessions and login state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r>
              <a:rPr lang="en-US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Data Integrity &amp; Reliability</a:t>
            </a: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Enforced relationships between workflows, steps, and tasks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Constraints to maintain consistent sequencing of workflow steps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Validation rules to ensure accurate and complete data entry 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Compliance Considerations</a:t>
            </a: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Structured data storage for auditability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Ability to generate reports for tracking and review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Clear separation of user roles and responsibilities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Designed with scalability and maintainability in mind </a:t>
            </a:r>
            <a:endParaRPr lang="en-US">
              <a:solidFill>
                <a:schemeClr val="bg1"/>
              </a:solidFill>
              <a:cs typeface="Times New Roman"/>
            </a:endParaRPr>
          </a:p>
          <a:p>
            <a:endParaRPr lang="en-US" sz="2500">
              <a:solidFill>
                <a:schemeClr val="bg1"/>
              </a:solidFill>
              <a:latin typeface="Times New Roman"/>
              <a:ea typeface="MS PGothic"/>
              <a:cs typeface="Times New Roman"/>
            </a:endParaRPr>
          </a:p>
        </p:txBody>
      </p:sp>
      <p:sp>
        <p:nvSpPr>
          <p:cNvPr id="46" name="Google Shape;61;p13">
            <a:extLst>
              <a:ext uri="{FF2B5EF4-FFF2-40B4-BE49-F238E27FC236}">
                <a16:creationId xmlns:a16="http://schemas.microsoft.com/office/drawing/2014/main" id="{91DEE7C8-C138-1689-A533-36E1839CE563}"/>
              </a:ext>
            </a:extLst>
          </p:cNvPr>
          <p:cNvSpPr/>
          <p:nvPr/>
        </p:nvSpPr>
        <p:spPr>
          <a:xfrm>
            <a:off x="14374942" y="5072206"/>
            <a:ext cx="6644100" cy="18027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62;p13">
            <a:extLst>
              <a:ext uri="{FF2B5EF4-FFF2-40B4-BE49-F238E27FC236}">
                <a16:creationId xmlns:a16="http://schemas.microsoft.com/office/drawing/2014/main" id="{F6241813-96C1-05B7-234A-AE23EFBF18CC}"/>
              </a:ext>
            </a:extLst>
          </p:cNvPr>
          <p:cNvSpPr/>
          <p:nvPr/>
        </p:nvSpPr>
        <p:spPr>
          <a:xfrm>
            <a:off x="41508" y="12038850"/>
            <a:ext cx="6644100" cy="1831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</a:rPr>
              <a:t>Objectives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48" name="Google Shape;63;p13">
            <a:extLst>
              <a:ext uri="{FF2B5EF4-FFF2-40B4-BE49-F238E27FC236}">
                <a16:creationId xmlns:a16="http://schemas.microsoft.com/office/drawing/2014/main" id="{243F8722-C6CD-33DE-AB6B-DDD377EDE780}"/>
              </a:ext>
            </a:extLst>
          </p:cNvPr>
          <p:cNvSpPr/>
          <p:nvPr/>
        </p:nvSpPr>
        <p:spPr>
          <a:xfrm>
            <a:off x="7200533" y="15789705"/>
            <a:ext cx="6644100" cy="18027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67;p13">
            <a:extLst>
              <a:ext uri="{FF2B5EF4-FFF2-40B4-BE49-F238E27FC236}">
                <a16:creationId xmlns:a16="http://schemas.microsoft.com/office/drawing/2014/main" id="{D10A9C44-C408-1F80-C1DC-03CA429912EC}"/>
              </a:ext>
            </a:extLst>
          </p:cNvPr>
          <p:cNvSpPr txBox="1"/>
          <p:nvPr/>
        </p:nvSpPr>
        <p:spPr>
          <a:xfrm>
            <a:off x="12479" y="5012727"/>
            <a:ext cx="6677767" cy="18621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</a:rPr>
              <a:t>Background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51" name="Google Shape;68;p13">
            <a:extLst>
              <a:ext uri="{FF2B5EF4-FFF2-40B4-BE49-F238E27FC236}">
                <a16:creationId xmlns:a16="http://schemas.microsoft.com/office/drawing/2014/main" id="{4C388471-0F00-D823-2D06-AE7C299F76BE}"/>
              </a:ext>
            </a:extLst>
          </p:cNvPr>
          <p:cNvSpPr txBox="1"/>
          <p:nvPr/>
        </p:nvSpPr>
        <p:spPr>
          <a:xfrm>
            <a:off x="7389233" y="15789688"/>
            <a:ext cx="6673200" cy="18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2" name="Google Shape;69;p13">
            <a:extLst>
              <a:ext uri="{FF2B5EF4-FFF2-40B4-BE49-F238E27FC236}">
                <a16:creationId xmlns:a16="http://schemas.microsoft.com/office/drawing/2014/main" id="{0E8F701A-A31B-A7BE-7E4C-7D4ED2EB38D1}"/>
              </a:ext>
            </a:extLst>
          </p:cNvPr>
          <p:cNvSpPr txBox="1"/>
          <p:nvPr/>
        </p:nvSpPr>
        <p:spPr>
          <a:xfrm>
            <a:off x="14394983" y="5072225"/>
            <a:ext cx="6644100" cy="18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4" name="Google Shape;71;p13">
            <a:extLst>
              <a:ext uri="{FF2B5EF4-FFF2-40B4-BE49-F238E27FC236}">
                <a16:creationId xmlns:a16="http://schemas.microsoft.com/office/drawing/2014/main" id="{5F80F0A5-2744-724F-E282-8C615977444A}"/>
              </a:ext>
            </a:extLst>
          </p:cNvPr>
          <p:cNvSpPr txBox="1"/>
          <p:nvPr/>
        </p:nvSpPr>
        <p:spPr>
          <a:xfrm>
            <a:off x="14345761" y="4923370"/>
            <a:ext cx="6673889" cy="18324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FFFFFF"/>
              </a:solidFill>
            </a:endParaRPr>
          </a:p>
        </p:txBody>
      </p:sp>
      <p:sp>
        <p:nvSpPr>
          <p:cNvPr id="55" name="Google Shape;72;p13">
            <a:extLst>
              <a:ext uri="{FF2B5EF4-FFF2-40B4-BE49-F238E27FC236}">
                <a16:creationId xmlns:a16="http://schemas.microsoft.com/office/drawing/2014/main" id="{F526776A-020B-496C-E456-59CC334E5FF5}"/>
              </a:ext>
            </a:extLst>
          </p:cNvPr>
          <p:cNvSpPr txBox="1"/>
          <p:nvPr/>
        </p:nvSpPr>
        <p:spPr>
          <a:xfrm>
            <a:off x="31666" y="22714275"/>
            <a:ext cx="6644100" cy="18027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FFFFFF"/>
              </a:solidFill>
            </a:endParaRPr>
          </a:p>
        </p:txBody>
      </p:sp>
      <p:sp>
        <p:nvSpPr>
          <p:cNvPr id="57" name="Google Shape;74;p13">
            <a:extLst>
              <a:ext uri="{FF2B5EF4-FFF2-40B4-BE49-F238E27FC236}">
                <a16:creationId xmlns:a16="http://schemas.microsoft.com/office/drawing/2014/main" id="{C7DEB0CC-9D21-3474-E027-5A8347641DC5}"/>
              </a:ext>
            </a:extLst>
          </p:cNvPr>
          <p:cNvSpPr txBox="1"/>
          <p:nvPr/>
        </p:nvSpPr>
        <p:spPr>
          <a:xfrm>
            <a:off x="14397997" y="19492401"/>
            <a:ext cx="6644100" cy="18027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FFFFFF"/>
              </a:solidFill>
            </a:endParaRPr>
          </a:p>
        </p:txBody>
      </p:sp>
      <p:sp>
        <p:nvSpPr>
          <p:cNvPr id="58" name="Google Shape;75;p13">
            <a:extLst>
              <a:ext uri="{FF2B5EF4-FFF2-40B4-BE49-F238E27FC236}">
                <a16:creationId xmlns:a16="http://schemas.microsoft.com/office/drawing/2014/main" id="{1F404691-C272-A1C0-27D6-D475B02E9E9F}"/>
              </a:ext>
            </a:extLst>
          </p:cNvPr>
          <p:cNvSpPr txBox="1"/>
          <p:nvPr/>
        </p:nvSpPr>
        <p:spPr>
          <a:xfrm>
            <a:off x="7179033" y="5072225"/>
            <a:ext cx="6585600" cy="18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Goal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59" name="Google Shape;76;p13">
            <a:extLst>
              <a:ext uri="{FF2B5EF4-FFF2-40B4-BE49-F238E27FC236}">
                <a16:creationId xmlns:a16="http://schemas.microsoft.com/office/drawing/2014/main" id="{40242040-3F88-C3A2-C53A-09064D584BBE}"/>
              </a:ext>
            </a:extLst>
          </p:cNvPr>
          <p:cNvSpPr/>
          <p:nvPr/>
        </p:nvSpPr>
        <p:spPr>
          <a:xfrm>
            <a:off x="7193550" y="4957886"/>
            <a:ext cx="6644100" cy="18027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>
              <a:solidFill>
                <a:schemeClr val="lt1"/>
              </a:solidFill>
            </a:endParaRPr>
          </a:p>
        </p:txBody>
      </p:sp>
      <p:sp>
        <p:nvSpPr>
          <p:cNvPr id="60" name="Google Shape;77;p13">
            <a:extLst>
              <a:ext uri="{FF2B5EF4-FFF2-40B4-BE49-F238E27FC236}">
                <a16:creationId xmlns:a16="http://schemas.microsoft.com/office/drawing/2014/main" id="{62DF9C83-F6DA-9B68-14C0-B1EFA51C68D8}"/>
              </a:ext>
            </a:extLst>
          </p:cNvPr>
          <p:cNvSpPr txBox="1"/>
          <p:nvPr/>
        </p:nvSpPr>
        <p:spPr>
          <a:xfrm>
            <a:off x="14368016" y="26079875"/>
            <a:ext cx="6644100" cy="18027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FFFFFF"/>
              </a:solidFill>
            </a:endParaRPr>
          </a:p>
        </p:txBody>
      </p:sp>
      <p:sp>
        <p:nvSpPr>
          <p:cNvPr id="61" name="Google Shape;78;p13">
            <a:extLst>
              <a:ext uri="{FF2B5EF4-FFF2-40B4-BE49-F238E27FC236}">
                <a16:creationId xmlns:a16="http://schemas.microsoft.com/office/drawing/2014/main" id="{D0290585-82EA-FD24-8959-FFC211335587}"/>
              </a:ext>
            </a:extLst>
          </p:cNvPr>
          <p:cNvSpPr txBox="1"/>
          <p:nvPr/>
        </p:nvSpPr>
        <p:spPr>
          <a:xfrm>
            <a:off x="7229783" y="15811750"/>
            <a:ext cx="6585600" cy="175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FFFFFF"/>
              </a:solidFill>
            </a:endParaRPr>
          </a:p>
        </p:txBody>
      </p:sp>
      <p:sp>
        <p:nvSpPr>
          <p:cNvPr id="62" name="Google Shape;79;p13">
            <a:extLst>
              <a:ext uri="{FF2B5EF4-FFF2-40B4-BE49-F238E27FC236}">
                <a16:creationId xmlns:a16="http://schemas.microsoft.com/office/drawing/2014/main" id="{28C58F4A-170E-C29A-4DF1-0A76B510BA8E}"/>
              </a:ext>
            </a:extLst>
          </p:cNvPr>
          <p:cNvSpPr txBox="1"/>
          <p:nvPr/>
        </p:nvSpPr>
        <p:spPr>
          <a:xfrm>
            <a:off x="14494483" y="28196338"/>
            <a:ext cx="6585600" cy="24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96" name="Google Shape;82;p13">
            <a:extLst>
              <a:ext uri="{FF2B5EF4-FFF2-40B4-BE49-F238E27FC236}">
                <a16:creationId xmlns:a16="http://schemas.microsoft.com/office/drawing/2014/main" id="{FACEA7EC-FF4B-35FA-3F2A-C7FE5A4A0D2F}"/>
              </a:ext>
            </a:extLst>
          </p:cNvPr>
          <p:cNvSpPr txBox="1"/>
          <p:nvPr/>
        </p:nvSpPr>
        <p:spPr>
          <a:xfrm>
            <a:off x="1017458" y="23148975"/>
            <a:ext cx="45912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</a:rPr>
              <a:t>Technologies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4097" name="Google Shape;83;p13">
            <a:extLst>
              <a:ext uri="{FF2B5EF4-FFF2-40B4-BE49-F238E27FC236}">
                <a16:creationId xmlns:a16="http://schemas.microsoft.com/office/drawing/2014/main" id="{0E987360-7B86-FBF2-C66A-C6A28640B434}"/>
              </a:ext>
            </a:extLst>
          </p:cNvPr>
          <p:cNvSpPr txBox="1"/>
          <p:nvPr/>
        </p:nvSpPr>
        <p:spPr>
          <a:xfrm>
            <a:off x="15394458" y="26514575"/>
            <a:ext cx="45912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</a:rPr>
              <a:t>Conclusion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4105" name="Google Shape;84;p13">
            <a:extLst>
              <a:ext uri="{FF2B5EF4-FFF2-40B4-BE49-F238E27FC236}">
                <a16:creationId xmlns:a16="http://schemas.microsoft.com/office/drawing/2014/main" id="{4F2379ED-35BA-0B20-D7B4-F093C7B0B9D4}"/>
              </a:ext>
            </a:extLst>
          </p:cNvPr>
          <p:cNvSpPr txBox="1"/>
          <p:nvPr/>
        </p:nvSpPr>
        <p:spPr>
          <a:xfrm>
            <a:off x="15394458" y="19927100"/>
            <a:ext cx="45912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</a:rPr>
              <a:t>Data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4106" name="Google Shape;85;p13">
            <a:extLst>
              <a:ext uri="{FF2B5EF4-FFF2-40B4-BE49-F238E27FC236}">
                <a16:creationId xmlns:a16="http://schemas.microsoft.com/office/drawing/2014/main" id="{40C6F3F8-ABF7-AC2C-E95E-35E6B79521B6}"/>
              </a:ext>
            </a:extLst>
          </p:cNvPr>
          <p:cNvSpPr txBox="1"/>
          <p:nvPr/>
        </p:nvSpPr>
        <p:spPr>
          <a:xfrm>
            <a:off x="7193735" y="15781256"/>
            <a:ext cx="6673534" cy="182643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54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Security &amp; Compliance Constraints</a:t>
            </a:r>
            <a:endParaRPr lang="en-US" sz="5400">
              <a:latin typeface="Times New Roman"/>
              <a:ea typeface="MS PGothic"/>
              <a:cs typeface="Times New Roman"/>
            </a:endParaRPr>
          </a:p>
        </p:txBody>
      </p:sp>
      <p:sp>
        <p:nvSpPr>
          <p:cNvPr id="4107" name="Google Shape;86;p13">
            <a:extLst>
              <a:ext uri="{FF2B5EF4-FFF2-40B4-BE49-F238E27FC236}">
                <a16:creationId xmlns:a16="http://schemas.microsoft.com/office/drawing/2014/main" id="{197FEBBF-212F-B531-4C38-965E109D9AA1}"/>
              </a:ext>
            </a:extLst>
          </p:cNvPr>
          <p:cNvSpPr txBox="1"/>
          <p:nvPr/>
        </p:nvSpPr>
        <p:spPr>
          <a:xfrm>
            <a:off x="7193208" y="5058303"/>
            <a:ext cx="6616656" cy="17974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6000">
                <a:solidFill>
                  <a:srgbClr val="FFFFFF"/>
                </a:solidFill>
                <a:cs typeface="Times New Roman"/>
              </a:rPr>
              <a:t>System Architecture</a:t>
            </a:r>
            <a:endParaRPr lang="en-US"/>
          </a:p>
        </p:txBody>
      </p:sp>
      <p:sp>
        <p:nvSpPr>
          <p:cNvPr id="4108" name="Google Shape;87;p13">
            <a:extLst>
              <a:ext uri="{FF2B5EF4-FFF2-40B4-BE49-F238E27FC236}">
                <a16:creationId xmlns:a16="http://schemas.microsoft.com/office/drawing/2014/main" id="{CFEAB33E-94E5-9C3E-1D73-514EB9C64D3B}"/>
              </a:ext>
            </a:extLst>
          </p:cNvPr>
          <p:cNvSpPr txBox="1"/>
          <p:nvPr/>
        </p:nvSpPr>
        <p:spPr>
          <a:xfrm>
            <a:off x="14449061" y="5000815"/>
            <a:ext cx="6706233" cy="230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54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Core Administrative Features</a:t>
            </a:r>
            <a:endParaRPr lang="en-US" sz="5400">
              <a:latin typeface="Times New Roman"/>
              <a:ea typeface="MS PGothic"/>
            </a:endParaRPr>
          </a:p>
        </p:txBody>
      </p:sp>
      <p:sp>
        <p:nvSpPr>
          <p:cNvPr id="4109" name="Google Shape;88;p13">
            <a:extLst>
              <a:ext uri="{FF2B5EF4-FFF2-40B4-BE49-F238E27FC236}">
                <a16:creationId xmlns:a16="http://schemas.microsoft.com/office/drawing/2014/main" id="{31F4CF8E-719A-F863-211B-C736143754E8}"/>
              </a:ext>
            </a:extLst>
          </p:cNvPr>
          <p:cNvSpPr txBox="1"/>
          <p:nvPr/>
        </p:nvSpPr>
        <p:spPr>
          <a:xfrm>
            <a:off x="112658" y="13902538"/>
            <a:ext cx="6411900" cy="7478537"/>
          </a:xfrm>
          <a:prstGeom prst="rect">
            <a:avLst/>
          </a:prstGeom>
          <a:solidFill>
            <a:srgbClr val="25174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 sz="25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Develop a centralized system to manage workflows and administrative tasks </a:t>
            </a:r>
            <a:endParaRPr lang="en-US" sz="2500">
              <a:ea typeface="MS PGothic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" sz="25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Replace manual tracking (spreadsheets / paper) with a structured digital solution </a:t>
            </a:r>
            <a:endParaRPr sz="2500">
              <a:latin typeface="Times New Roman"/>
              <a:ea typeface="MS PGothic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" sz="25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Improve efficiency in creating, updating, and monitoring workflows </a:t>
            </a:r>
            <a:endParaRPr sz="2500">
              <a:latin typeface="Times New Roman"/>
              <a:ea typeface="MS PGothic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" sz="25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Provide real-time visibility into workflow progress and task completion </a:t>
            </a:r>
            <a:endParaRPr sz="2500">
              <a:ea typeface="MS PGothic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" sz="25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Enable administrators to manage users, roles, and assignments easily </a:t>
            </a:r>
            <a:endParaRPr sz="2500">
              <a:latin typeface="Times New Roman"/>
              <a:ea typeface="MS PGothic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" sz="25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Reduce human error through validation and structured data handling </a:t>
            </a:r>
            <a:endParaRPr sz="2500">
              <a:latin typeface="Times New Roman"/>
              <a:ea typeface="MS PGothic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" sz="25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Generate reports for performance tracking and decision-making </a:t>
            </a:r>
            <a:endParaRPr sz="2500">
              <a:ea typeface="MS PGothic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" sz="25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Build a scalable foundation for future features and integrations</a:t>
            </a:r>
            <a:endParaRPr sz="2500">
              <a:latin typeface="Times New Roman"/>
              <a:ea typeface="MS PGothic"/>
              <a:cs typeface="Times New Roman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</a:pPr>
            <a:endParaRPr lang="en" sz="2500">
              <a:solidFill>
                <a:srgbClr val="FFFFFF"/>
              </a:solidFill>
              <a:cs typeface="Times New Roman"/>
            </a:endParaRPr>
          </a:p>
        </p:txBody>
      </p:sp>
      <p:pic>
        <p:nvPicPr>
          <p:cNvPr id="4115" name="Google Shape;94;p13">
            <a:extLst>
              <a:ext uri="{FF2B5EF4-FFF2-40B4-BE49-F238E27FC236}">
                <a16:creationId xmlns:a16="http://schemas.microsoft.com/office/drawing/2014/main" id="{CAEC9256-3801-DC48-EC63-5AA621D7473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5433" y="29149700"/>
            <a:ext cx="2442233" cy="18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20" name="Google Shape;99;p13">
            <a:extLst>
              <a:ext uri="{FF2B5EF4-FFF2-40B4-BE49-F238E27FC236}">
                <a16:creationId xmlns:a16="http://schemas.microsoft.com/office/drawing/2014/main" id="{6A07CFB4-4681-F8C8-397C-38729A3E91E0}"/>
              </a:ext>
            </a:extLst>
          </p:cNvPr>
          <p:cNvSpPr txBox="1"/>
          <p:nvPr/>
        </p:nvSpPr>
        <p:spPr>
          <a:xfrm>
            <a:off x="14436375" y="21286120"/>
            <a:ext cx="6227997" cy="4814324"/>
          </a:xfrm>
          <a:prstGeom prst="rect">
            <a:avLst/>
          </a:prstGeom>
          <a:solidFill>
            <a:srgbClr val="25174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Workflows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ID, name, status, timestamps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Creation and last updated timestamps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Steps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Name, type, sequence, enabled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Tasks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Assigned user, status, dates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Assigned user / assigned by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Users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Roles and permissions 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r>
              <a:rPr lang="en-US" sz="24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Reports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Completion metrics, exports (CSV/PDF)</a:t>
            </a:r>
            <a:endParaRPr lang="en-US" sz="2400">
              <a:solidFill>
                <a:schemeClr val="bg1"/>
              </a:solidFill>
              <a:cs typeface="Times New Roman"/>
            </a:endParaRPr>
          </a:p>
          <a:p>
            <a:endParaRPr lang="en-US" sz="2400" b="1">
              <a:solidFill>
                <a:schemeClr val="bg1"/>
              </a:solidFill>
              <a:latin typeface="Times New Roman"/>
              <a:ea typeface="MS PGothic"/>
              <a:cs typeface="Times New Roman"/>
            </a:endParaRPr>
          </a:p>
        </p:txBody>
      </p:sp>
      <p:sp>
        <p:nvSpPr>
          <p:cNvPr id="4121" name="Google Shape;100;p13">
            <a:extLst>
              <a:ext uri="{FF2B5EF4-FFF2-40B4-BE49-F238E27FC236}">
                <a16:creationId xmlns:a16="http://schemas.microsoft.com/office/drawing/2014/main" id="{1E116743-ECDB-3E49-D436-235045873B02}"/>
              </a:ext>
            </a:extLst>
          </p:cNvPr>
          <p:cNvSpPr txBox="1"/>
          <p:nvPr/>
        </p:nvSpPr>
        <p:spPr>
          <a:xfrm>
            <a:off x="14356878" y="27867493"/>
            <a:ext cx="6345000" cy="18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FFFFF"/>
              </a:buClr>
              <a:buSzPts val="1600"/>
              <a:buFont typeface="Arial"/>
              <a:buChar char="•"/>
            </a:pPr>
            <a:r>
              <a:rPr lang="en" sz="21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Built a full-stack workflow management system using ASP.NET and SQL Server </a:t>
            </a:r>
            <a:endParaRPr lang="en-US" sz="2100">
              <a:solidFill>
                <a:srgbClr val="FFFFFF"/>
              </a:solidFill>
              <a:ea typeface="MS PGothic"/>
              <a:cs typeface="Times New Roman"/>
            </a:endParaRPr>
          </a:p>
          <a:p>
            <a:pPr>
              <a:buSzPts val="1600"/>
              <a:buFont typeface="Arial"/>
              <a:buChar char="•"/>
            </a:pPr>
            <a:r>
              <a:rPr lang="en" sz="21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Improved efficiency by replacing manual workflow tracking </a:t>
            </a:r>
            <a:endParaRPr lang="en" sz="2100">
              <a:ea typeface="MS PGothic"/>
              <a:cs typeface="Times New Roman"/>
            </a:endParaRPr>
          </a:p>
          <a:p>
            <a:pPr>
              <a:buSzPts val="1600"/>
              <a:buFont typeface="Arial"/>
              <a:buChar char="•"/>
            </a:pPr>
            <a:r>
              <a:rPr lang="en" sz="21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Enabled administrators to manage workflows, tasks, and users in one system </a:t>
            </a:r>
            <a:endParaRPr lang="en" sz="2100">
              <a:ea typeface="MS PGothic"/>
              <a:cs typeface="Times New Roman"/>
            </a:endParaRPr>
          </a:p>
          <a:p>
            <a:pPr>
              <a:buSzPts val="1600"/>
              <a:buFont typeface="Arial"/>
              <a:buChar char="•"/>
            </a:pPr>
            <a:r>
              <a:rPr lang="en" sz="21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Integrated reporting features for performance insights and decision-making </a:t>
            </a:r>
            <a:endParaRPr sz="2100">
              <a:ea typeface="MS PGothic"/>
              <a:cs typeface="Times New Roman"/>
            </a:endParaRPr>
          </a:p>
          <a:p>
            <a:pPr>
              <a:buSzPts val="1600"/>
              <a:buFont typeface="Arial"/>
              <a:buChar char="•"/>
            </a:pPr>
            <a:r>
              <a:rPr lang="en" sz="2100">
                <a:solidFill>
                  <a:srgbClr val="FFFFFF"/>
                </a:solidFill>
                <a:latin typeface="Times New Roman"/>
                <a:ea typeface="MS PGothic"/>
                <a:cs typeface="Times New Roman"/>
              </a:rPr>
              <a:t>Designed with scalability and real-world application in mind </a:t>
            </a:r>
            <a:endParaRPr sz="2100">
              <a:ea typeface="MS PGothic"/>
              <a:cs typeface="Times New Roman"/>
            </a:endParaRPr>
          </a:p>
          <a:p>
            <a:pPr marL="457200" lvl="0" indent="-330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endParaRPr lang="en" sz="2100">
              <a:solidFill>
                <a:srgbClr val="FFFFFF"/>
              </a:solidFill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82D10-CC5C-D577-6F6A-3CE9E7D301D4}"/>
              </a:ext>
            </a:extLst>
          </p:cNvPr>
          <p:cNvSpPr txBox="1"/>
          <p:nvPr/>
        </p:nvSpPr>
        <p:spPr>
          <a:xfrm>
            <a:off x="101712" y="6903842"/>
            <a:ext cx="6619234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5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The Problem:</a:t>
            </a: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 Manual database manipulation is inefficient, prone to human error, and poses severe risks to data integrity in a strictly regulated HIPAA/HITECH environment.</a:t>
            </a:r>
          </a:p>
          <a:p>
            <a:pPr marL="342900" indent="-342900">
              <a:buFont typeface="Arial"/>
              <a:buChar char="•"/>
            </a:pPr>
            <a:r>
              <a:rPr lang="en-US" sz="25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The Constraint:</a:t>
            </a: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 The existing enterprise SQL Server database architecture is entirely immutable—no new tables or schema modifications are permitted.</a:t>
            </a:r>
          </a:p>
          <a:p>
            <a:pPr marL="342900" indent="-342900">
              <a:buFont typeface="Arial"/>
              <a:buChar char="•"/>
            </a:pPr>
            <a:r>
              <a:rPr lang="en-US" sz="2500" b="1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The Need:</a:t>
            </a:r>
            <a:r>
              <a:rPr lang="en-US" sz="2500">
                <a:solidFill>
                  <a:schemeClr val="bg1"/>
                </a:solidFill>
                <a:latin typeface="Times New Roman"/>
                <a:ea typeface="MS PGothic"/>
                <a:cs typeface="Times New Roman"/>
              </a:rPr>
              <a:t> A secure, standalone graphical user interface (GUI) that allows administrators to safely configure workflows, reassign tasks, and audit activity without writing raw SQL.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9FF729-BABE-3AB2-F62B-647C8C82FF21}"/>
              </a:ext>
            </a:extLst>
          </p:cNvPr>
          <p:cNvSpPr txBox="1"/>
          <p:nvPr/>
        </p:nvSpPr>
        <p:spPr>
          <a:xfrm>
            <a:off x="7272073" y="7003979"/>
            <a:ext cx="6501301" cy="8646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6" name="Picture 5" descr="Rendering razor views that contain helpers with RazorEngine | by Kerim  Emurla | Medium">
            <a:extLst>
              <a:ext uri="{FF2B5EF4-FFF2-40B4-BE49-F238E27FC236}">
                <a16:creationId xmlns:a16="http://schemas.microsoft.com/office/drawing/2014/main" id="{2C7FEFA0-5416-6CB0-F4B0-13883CBEBC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382" y="24908166"/>
            <a:ext cx="2743197" cy="1000124"/>
          </a:xfrm>
          <a:prstGeom prst="rect">
            <a:avLst/>
          </a:prstGeom>
        </p:spPr>
      </p:pic>
      <p:pic>
        <p:nvPicPr>
          <p:cNvPr id="7" name="Picture 6" descr="499 Html Css Javascript Logo Royalty-Free Images, Stock ...">
            <a:extLst>
              <a:ext uri="{FF2B5EF4-FFF2-40B4-BE49-F238E27FC236}">
                <a16:creationId xmlns:a16="http://schemas.microsoft.com/office/drawing/2014/main" id="{28C1E071-C97C-DF66-D087-80987E36E37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33" t="4250" r="1682" b="18829"/>
          <a:stretch>
            <a:fillRect/>
          </a:stretch>
        </p:blipFill>
        <p:spPr>
          <a:xfrm>
            <a:off x="3421841" y="24937609"/>
            <a:ext cx="2416697" cy="2051492"/>
          </a:xfrm>
          <a:prstGeom prst="rect">
            <a:avLst/>
          </a:prstGeom>
        </p:spPr>
      </p:pic>
      <p:pic>
        <p:nvPicPr>
          <p:cNvPr id="8" name="Picture 7" descr="Bootstrap Logo Vector - (.SVG + .PNG) - LogoVectorSeek.Com">
            <a:extLst>
              <a:ext uri="{FF2B5EF4-FFF2-40B4-BE49-F238E27FC236}">
                <a16:creationId xmlns:a16="http://schemas.microsoft.com/office/drawing/2014/main" id="{153D3A53-E528-66EA-F6DD-0F0528DA10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312" y="26331635"/>
            <a:ext cx="2866660" cy="1590675"/>
          </a:xfrm>
          <a:prstGeom prst="rect">
            <a:avLst/>
          </a:prstGeom>
        </p:spPr>
      </p:pic>
      <p:pic>
        <p:nvPicPr>
          <p:cNvPr id="9" name="Picture 8" descr="ASP.NET Core MVC - What you NEED to know! - TutorialsEU">
            <a:extLst>
              <a:ext uri="{FF2B5EF4-FFF2-40B4-BE49-F238E27FC236}">
                <a16:creationId xmlns:a16="http://schemas.microsoft.com/office/drawing/2014/main" id="{4EF3C375-F518-8A7D-CB60-D5951D9D06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6693" y="27331633"/>
            <a:ext cx="2866660" cy="1590675"/>
          </a:xfrm>
          <a:prstGeom prst="rect">
            <a:avLst/>
          </a:prstGeom>
        </p:spPr>
      </p:pic>
      <p:pic>
        <p:nvPicPr>
          <p:cNvPr id="10" name="Picture 9" descr="File:Csharp Logo.png - Wikimedia Commons">
            <a:extLst>
              <a:ext uri="{FF2B5EF4-FFF2-40B4-BE49-F238E27FC236}">
                <a16:creationId xmlns:a16="http://schemas.microsoft.com/office/drawing/2014/main" id="{3C9CF45E-D5C4-2A5F-0D54-A9647DD433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20" y="27940233"/>
            <a:ext cx="2589280" cy="1873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842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842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871e55d-4529-4784-a5b8-654a1e01605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8E4DF5C0AF474991DB1DCF02681E24" ma:contentTypeVersion="14" ma:contentTypeDescription="Create a new document." ma:contentTypeScope="" ma:versionID="5d0a4bd920ea9191bfe03759d68ec64e">
  <xsd:schema xmlns:xsd="http://www.w3.org/2001/XMLSchema" xmlns:xs="http://www.w3.org/2001/XMLSchema" xmlns:p="http://schemas.microsoft.com/office/2006/metadata/properties" xmlns:ns3="a871e55d-4529-4784-a5b8-654a1e016052" xmlns:ns4="3ae2d85c-c93c-476c-bd2b-45fdfcf8dc09" targetNamespace="http://schemas.microsoft.com/office/2006/metadata/properties" ma:root="true" ma:fieldsID="de8ef1cfd8309d8d233ac6c7e15aee80" ns3:_="" ns4:_="">
    <xsd:import namespace="a871e55d-4529-4784-a5b8-654a1e016052"/>
    <xsd:import namespace="3ae2d85c-c93c-476c-bd2b-45fdfcf8dc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71e55d-4529-4784-a5b8-654a1e0160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e2d85c-c93c-476c-bd2b-45fdfcf8dc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B01CAE-C785-4A03-8A25-71D202A1F626}">
  <ds:schemaRefs>
    <ds:schemaRef ds:uri="3ae2d85c-c93c-476c-bd2b-45fdfcf8dc09"/>
    <ds:schemaRef ds:uri="a871e55d-4529-4784-a5b8-654a1e0160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2C9DD7E-C0FA-4983-BE91-95CE95DD25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476FE-E5C0-4FC6-9D4A-452C7BEF303E}">
  <ds:schemaRefs>
    <ds:schemaRef ds:uri="3ae2d85c-c93c-476c-bd2b-45fdfcf8dc09"/>
    <ds:schemaRef ds:uri="a871e55d-4529-4784-a5b8-654a1e0160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Design</vt:lpstr>
      <vt:lpstr>Workflow Queue (WFQ) Administrator Application  Team Members: Samuel Acevedo, Alexander Diaz, Ruben Flores, Dylan Huang, Haik Oganesyan, Jesus Ojeda, Slok Patel, Edwin Rojas, Laila Velasquez, Zhen Zhao Faculty Advisor: Huiping Guo Leidos QTC Liaison: Edmundo Guzman-Meza, Denise Tabilas Department of Computer Science California State University, Los Angeles</vt:lpstr>
    </vt:vector>
  </TitlesOfParts>
  <Company>UCI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Miniature Liquid Fuel-Film Combustor Trinh Pham Derek Dunn-Rankin and William A. Sirignano Department of Mechanical and Aerospace Engineering The Henry Samueli School of Engineering University of California, Irvine</dc:title>
  <dc:creator>lfa</dc:creator>
  <cp:revision>2</cp:revision>
  <dcterms:created xsi:type="dcterms:W3CDTF">2003-02-05T00:13:20Z</dcterms:created>
  <dcterms:modified xsi:type="dcterms:W3CDTF">2026-04-22T05:50:17Z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0x010100728E4DF5C0AF474991DB1DCF02681E24</vt:lpwstr>
  </property>
</Properties>
</file>